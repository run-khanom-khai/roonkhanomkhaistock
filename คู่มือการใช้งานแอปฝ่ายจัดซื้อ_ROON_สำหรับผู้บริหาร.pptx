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วัตถุประสงค์: ให้ผู้บริหารเห็นภาพรวมการควบคุม และให้พนักงานใช้เป็นคู่มือปฏิบัติงาน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อธิบายว่าข้อมูลหลักที่ถูกต้องเป็นฐานของทุกขั้นตอนถัดไป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โครงสร้างเมนูปัจจุบันมีทั้งเมนูบันทึกและเมนูรายงานแยกกัน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หากรหัสผิดให้ลองใหม่; หากลืมรหัสติดต่อผู้ดูแลระบบ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ข้อมูลหลัก items เป็นฐานของ dropdown, ราคาอัตโนมัติ, รายงานคงเหลือ และ Minimum Point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ระบบบันทึกหัวใบสั่งซื้อและรายการย่อย พร้อมสร้าง stock movement ฝั่งรับเข้า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การแก้ไขรายการควรมีหมายเหตุเพื่อให้สอบทานย้อนหลังได้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ต้นทุนที่เป็น 0 ต้องแก้ข้อมูลหลักหรือมีประวัติซื้อก่อน เพื่อให้รายงานมูลค่าถูกต้อง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อธิบายความสัมพันธ์ระหว่าง stock_in_to_branch กับ stock_movements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ยอดคงเหลือคำนวณจาก stock movements แยกตาม branch_id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สีแดงเป็นสัญญาณเตือน ไม่ใช่คำสั่งซื้ออัตโนมัติ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PDF สร้างจากเมนูดูการเบิกเข้าสาขา เลือกสาขาและวันที่ก่อนดาวน์โหลด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ใช้สไลด์นี้เป็น SOP ย่อสำหรับหัวหน้าตรวจงานประจำวัน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แนะนำให้เก็บหลักฐาน error ก่อน reboot เพื่อช่วยวิเคราะห์สาเหตุ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ปิดด้วยความรับผิดชอบร่วม: พนักงานบันทึกให้ครบ หัวหน้าตรวจ ผู้บริหารใช้ข้อมูลกำกับ</a:t>
            </a:r>
          </a:p>
          <a:p>
            <a:endParaRPr/>
          </a:p>
          <a:p>
            <a:r>
              <a:t>[Sources]</a:t>
            </a:r>
          </a:p>
          <a:p>
            <a:r>
              <a:t>- ระบบปัจจุบัน: modules/purchase.py และ modules/pdf_util.py ใน ROON repository ตรวจเมื่อ 17 สิงหาคม 2026</a:t>
            </a:r>
          </a:p>
          <a:p>
            <a:r>
              <a:t>- โลโก้และตัวอย่าง PDF: ทรัพย์สินของระบบ 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709" y="552450"/>
            <a:ext cx="1956932" cy="1066800"/>
          </a:xfrm>
          <a:prstGeom prst="rect">
            <a:avLst/>
          </a:prstGeom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C3C89DF-91CB-4759-A001-D892618604C6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200" b="1">
                <a:solidFill>
                  <a:srgbClr val="152238"/>
                </a:solidFill>
              </a:defRPr>
            </a:pPr>
            <a:r>
              <a:rPr sz="4200" b="1">
                <a:solidFill>
                  <a:srgbClr val="152238"/>
                </a:solidFill>
              </a:rPr>
              <a:t>คู่มือการใช้งาน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C7F4B575-1C24-4EBF-AA2E-3F2075FEFAF7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2F6BFF"/>
                </a:solidFill>
              </a:defRPr>
            </a:pPr>
            <a:r>
              <a:rPr sz="3150" b="1">
                <a:solidFill>
                  <a:srgbClr val="2F6BFF"/>
                </a:solidFill>
              </a:rPr>
              <a:t>แอปฝ่ายจัดซื้อ (Purchase)</a:t>
            </a: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405EDEB9-DC31-4537-9C2B-0BCC725ABC76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</a:rPr>
              <a:t>กระบวนการทำงาน • จุดควบคุม • รายงานสำหรับผู้บริหาร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F0C9260-44B0-47A6-B9FF-7C1319C9C990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4191000" cy="4762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307B21A2-CFDC-4FA4-BA67-3BD2613A442F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จัดทำโดย ดร.วรรณ (ดร.อภิวรรณ์ ดำแสงสวัสดิ์)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2D6B995-15C3-4C76-BC18-3773F9D56BC8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ฉบับปรับปรุง 17 สิงหาคม 2026</a:t>
            </a:r>
          </a:p>
        </p:txBody>
      </p:sp>
    </p:spTree>
    <p:extLst>
      <p:ext uri="{BB962C8B-B14F-4D97-AF65-F5344CB8AC3E}">
        <p14:creationId xmlns:p14="http://schemas.microsoft.com/office/powerpoint/2010/main" val="1726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006C4F6E-A6D9-4723-B586-E80347600D5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บทบาทต่อระบบ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F8305C47-5598-49D3-8E5C-8543B69EFF3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ฝ่ายจัดซื้อเชื่อมต้นทุน สต๊อก และการส่งของถึงสาขา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8B570E31-91B6-43CA-B325-311EE7A5045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567CDEF-5511-4FD4-AB50-44911F4DA224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BF7F6768-5DB4-4109-999A-6824B6FE0DB7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D9EE6A57-CD83-47E9-99BA-E1BC5FF017FB}"/>
              </a:ext>
            </a:extLst>
          </p:cNvPr>
          <p:cNvSpPr>
            <a:spLocks noGrp="1"/>
          </p:cNvSpPr>
          <p:nvPr/>
        </p:nvSpPr>
        <p:spPr>
          <a:xfrm>
            <a:off x="1333500" y="18478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ข้อมูลหลัก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97AA017-CE03-4128-AEFC-F8F707271F8A}"/>
              </a:ext>
            </a:extLst>
          </p:cNvPr>
          <p:cNvSpPr>
            <a:spLocks noGrp="1"/>
          </p:cNvSpPr>
          <p:nvPr/>
        </p:nvSpPr>
        <p:spPr>
          <a:xfrm>
            <a:off x="1333500" y="23431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ชื่อสินค้า • หน่วย • Min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95DBAAE5-3239-4140-BB96-A15A94BF3B02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4572000" cy="2857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5B6048E0-120C-48BD-899E-DCB729B07990}"/>
              </a:ext>
            </a:extLst>
          </p:cNvPr>
          <p:cNvSpPr>
            <a:spLocks noGrp="1"/>
          </p:cNvSpPr>
          <p:nvPr/>
        </p:nvSpPr>
        <p:spPr>
          <a:xfrm>
            <a:off x="6019800" y="18478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AB5F9092-CFFA-4A7C-939A-C224790994FD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จัดซื้อ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BE92BAA2-BCD5-4A74-88C6-AA05ACAA3C53}"/>
              </a:ext>
            </a:extLst>
          </p:cNvPr>
          <p:cNvSpPr>
            <a:spLocks noGrp="1"/>
          </p:cNvSpPr>
          <p:nvPr/>
        </p:nvSpPr>
        <p:spPr>
          <a:xfrm>
            <a:off x="6667500" y="23431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ผู้ขาย • Invoice • ราคา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12FF9EE4-0330-41B7-83C6-C1C2B12E5131}"/>
              </a:ext>
            </a:extLst>
          </p:cNvPr>
          <p:cNvSpPr>
            <a:spLocks noGrp="1"/>
          </p:cNvSpPr>
          <p:nvPr/>
        </p:nvSpPr>
        <p:spPr>
          <a:xfrm>
            <a:off x="6019800" y="2971800"/>
            <a:ext cx="4572000" cy="2857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B0FA9C25-1B0C-451D-B534-67BED394436D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56D0B134-65F8-4554-899D-1A2C566CBD7A}"/>
              </a:ext>
            </a:extLst>
          </p:cNvPr>
          <p:cNvSpPr>
            <a:spLocks noGrp="1"/>
          </p:cNvSpPr>
          <p:nvPr/>
        </p:nvSpPr>
        <p:spPr>
          <a:xfrm>
            <a:off x="1333500" y="3524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เบิกเข้าสาขา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0ACF7DDE-C430-4F64-B48E-31C395D9AB75}"/>
              </a:ext>
            </a:extLst>
          </p:cNvPr>
          <p:cNvSpPr>
            <a:spLocks noGrp="1"/>
          </p:cNvSpPr>
          <p:nvPr/>
        </p:nvSpPr>
        <p:spPr>
          <a:xfrm>
            <a:off x="1333500" y="40195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จำนวน • ต้นทุน • หลักฐาน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CDF21DF0-C385-43A0-A8B7-800EFF8E9C4D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572000" cy="2857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968E4917-28A4-48E0-8C7F-FFF2DBB85DE9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04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5C68E44B-CBC8-4BF6-90F6-9ED5D370712E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ควบคุมคงเหลือ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21DCF12F-A46D-47D2-9386-1C39FB1F0B61}"/>
              </a:ext>
            </a:extLst>
          </p:cNvPr>
          <p:cNvSpPr>
            <a:spLocks noGrp="1"/>
          </p:cNvSpPr>
          <p:nvPr/>
        </p:nvSpPr>
        <p:spPr>
          <a:xfrm>
            <a:off x="6667500" y="40195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ยอดคงเหลือ • จุดสั่งซื้อ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6D3434AC-844C-409B-8532-145642E6E526}"/>
              </a:ext>
            </a:extLst>
          </p:cNvPr>
          <p:cNvSpPr>
            <a:spLocks noGrp="1"/>
          </p:cNvSpPr>
          <p:nvPr/>
        </p:nvSpPr>
        <p:spPr>
          <a:xfrm>
            <a:off x="6019800" y="4648200"/>
            <a:ext cx="4572000" cy="2857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21" name="สี่เหลี่ยมผืนผ้า: มุมมน 20">
            <a:extLst>
              <a:ext uri="{FF2B5EF4-FFF2-40B4-BE49-F238E27FC236}">
                <a16:creationId xmlns:a16="http://schemas.microsoft.com/office/drawing/2014/main" id="{52D48DC4-DF9E-46C5-9ADD-990395F009A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906000" cy="552450"/>
          </a:xfrm>
          <a:prstGeom prst="roundRect">
            <a:avLst>
              <a:gd name="adj" fmla="val 20690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39DC664D-DDF5-4A2D-A3C9-83321A144F76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ผลลัพธ์ต่อผู้บริหาร: เห็นการซื้อ การกระจายสินค้า ต้นทุน และรายการเสี่ยงขาดสต๊อก</a:t>
            </a:r>
          </a:p>
        </p:txBody>
      </p:sp>
      <p:pic>
        <p:nvPicPr>
          <p:cNvPr id="46" name="รูปภาพ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1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สี่เหลี่ยมผืนผ้า 25">
            <a:extLst>
              <a:ext uri="{FF2B5EF4-FFF2-40B4-BE49-F238E27FC236}">
                <a16:creationId xmlns:a16="http://schemas.microsoft.com/office/drawing/2014/main" id="{66995EA2-AE01-48D0-B8D7-48F68DD6E98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ภาพรวม Workflow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6156A33E-9250-4CA0-8668-EA4EE6ADF0A0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กระบวนการครบวงจรมี 4 ขั้น และ 3 รายงานติดตาม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FC6D0AB9-5D93-4A04-ACE3-B19DD99B8707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7AD4F593-51B8-442D-A22C-1E96593D2347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9486C09E-7708-4EB8-9CB8-899C5BABA97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F45F5033-7764-4681-88E8-55C485D61D29}"/>
              </a:ext>
            </a:extLst>
          </p:cNvPr>
          <p:cNvSpPr>
            <a:spLocks noGrp="1"/>
          </p:cNvSpPr>
          <p:nvPr/>
        </p:nvSpPr>
        <p:spPr>
          <a:xfrm>
            <a:off x="1276350" y="17907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ตั้งข้อมูลวัตถุดิบ/บรรจุภัณฑ์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E5F0FE2B-474B-45B2-B1CD-702BA0C9BBE5}"/>
              </a:ext>
            </a:extLst>
          </p:cNvPr>
          <p:cNvSpPr>
            <a:spLocks noGrp="1"/>
          </p:cNvSpPr>
          <p:nvPr/>
        </p:nvSpPr>
        <p:spPr>
          <a:xfrm>
            <a:off x="1276350" y="21526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กำหนดชื่อ ประเภท หน่วย ต้นทุน และ Min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37690A58-39FF-4151-8FBA-BC8F4C0D762C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7241C78D-8B9F-448F-A89F-AB7BE62BBE6A}"/>
              </a:ext>
            </a:extLst>
          </p:cNvPr>
          <p:cNvSpPr>
            <a:spLocks noGrp="1"/>
          </p:cNvSpPr>
          <p:nvPr/>
        </p:nvSpPr>
        <p:spPr>
          <a:xfrm>
            <a:off x="1276350" y="29527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บันทึกใบสั่งซื้อ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518B2A36-94DE-4210-8146-F878837E10E7}"/>
              </a:ext>
            </a:extLst>
          </p:cNvPr>
          <p:cNvSpPr>
            <a:spLocks noGrp="1"/>
          </p:cNvSpPr>
          <p:nvPr/>
        </p:nvSpPr>
        <p:spPr>
          <a:xfrm>
            <a:off x="1276350" y="331470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เก็บผู้ขาย Invoice จำนวน ราคา และยอดรวม VAT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5A018CB-CC26-44F5-B959-18B1EEAA384C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EE48C40C-53AA-41F6-979C-FC78B634655C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เบิกและส่งของเข้าสาขา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393E663D-ECA5-4918-A201-5DD970F8A2C8}"/>
              </a:ext>
            </a:extLst>
          </p:cNvPr>
          <p:cNvSpPr>
            <a:spLocks noGrp="1"/>
          </p:cNvSpPr>
          <p:nvPr/>
        </p:nvSpPr>
        <p:spPr>
          <a:xfrm>
            <a:off x="1276350" y="44767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เลือกสาขา จำนวน และต้นทุนต่อหน่วย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9FBD38C3-588B-4B10-A707-10298129D35E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04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004EE2F1-FE72-4FA5-8AC8-681C44CE16FA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ติดตามคงเหลือและจุดสั่งซื้อ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724F8C1A-9DCB-4971-A46D-5646F573D2FE}"/>
              </a:ext>
            </a:extLst>
          </p:cNvPr>
          <p:cNvSpPr>
            <a:spLocks noGrp="1"/>
          </p:cNvSpPr>
          <p:nvPr/>
        </p:nvSpPr>
        <p:spPr>
          <a:xfrm>
            <a:off x="6877050" y="21526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ตรวจยอดและเตรียมสั่งซื้อก่อนของขาด</a:t>
            </a:r>
          </a:p>
        </p:txBody>
      </p:sp>
      <p:sp>
        <p:nvSpPr>
          <p:cNvPr id="17" name="สี่เหลี่ยมผืนผ้า: มุมมน 16">
            <a:extLst>
              <a:ext uri="{FF2B5EF4-FFF2-40B4-BE49-F238E27FC236}">
                <a16:creationId xmlns:a16="http://schemas.microsoft.com/office/drawing/2014/main" id="{7627134A-281C-4D17-B46E-E036D1D63162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4953000" cy="1752600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0D4571AA-E3F4-4A82-890A-B8BB0501FCDA}"/>
              </a:ext>
            </a:extLst>
          </p:cNvPr>
          <p:cNvSpPr>
            <a:spLocks noGrp="1"/>
          </p:cNvSpPr>
          <p:nvPr/>
        </p:nvSpPr>
        <p:spPr>
          <a:xfrm>
            <a:off x="6629400" y="33147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52238"/>
                </a:solidFill>
              </a:defRPr>
            </a:pPr>
            <a:r>
              <a:rPr sz="1800" b="1">
                <a:solidFill>
                  <a:srgbClr val="152238"/>
                </a:solidFill>
              </a:rPr>
              <a:t>รายงานพร้อมใช้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740624E8-43FF-4E7A-88AC-5CF7D67E9EF4}"/>
              </a:ext>
            </a:extLst>
          </p:cNvPr>
          <p:cNvSpPr>
            <a:spLocks noGrp="1"/>
          </p:cNvSpPr>
          <p:nvPr/>
        </p:nvSpPr>
        <p:spPr>
          <a:xfrm>
            <a:off x="6629400" y="37909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6537B1CD-2855-42A8-A64D-B60D47DAE8F1}"/>
              </a:ext>
            </a:extLst>
          </p:cNvPr>
          <p:cNvSpPr>
            <a:spLocks noGrp="1"/>
          </p:cNvSpPr>
          <p:nvPr/>
        </p:nvSpPr>
        <p:spPr>
          <a:xfrm>
            <a:off x="6934200" y="3790950"/>
            <a:ext cx="388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ดูใบสั่งซื้อตามวันที่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9DA91AC1-2F57-42F8-9A40-130D581A76FD}"/>
              </a:ext>
            </a:extLst>
          </p:cNvPr>
          <p:cNvSpPr>
            <a:spLocks noGrp="1"/>
          </p:cNvSpPr>
          <p:nvPr/>
        </p:nvSpPr>
        <p:spPr>
          <a:xfrm>
            <a:off x="6629400" y="41910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01773B9E-D5C7-4F8B-9054-3C754B65809F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388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ดูการเบิกเข้าสาขา + PDF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EAD7F238-EDCB-4330-9188-53C25202E46D}"/>
              </a:ext>
            </a:extLst>
          </p:cNvPr>
          <p:cNvSpPr>
            <a:spLocks noGrp="1"/>
          </p:cNvSpPr>
          <p:nvPr/>
        </p:nvSpPr>
        <p:spPr>
          <a:xfrm>
            <a:off x="6629400" y="45910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824A2617-6D35-4612-A379-EA1D47C5957A}"/>
              </a:ext>
            </a:extLst>
          </p:cNvPr>
          <p:cNvSpPr>
            <a:spLocks noGrp="1"/>
          </p:cNvSpPr>
          <p:nvPr/>
        </p:nvSpPr>
        <p:spPr>
          <a:xfrm>
            <a:off x="6934200" y="4591050"/>
            <a:ext cx="388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รายการถึง Min + PDF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3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83E6E47E-B800-416B-A28F-03B2DB12591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เข้าสู่ระบบและหน้าหลัก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F9FD5FC9-F7BE-4E63-BA24-038F4BD5AA7E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เริ่มงานด้วยบัญชีฝ่ายจัดซื้อ และตรวจวันที่ทุกครั้ง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6BFF99BE-1891-479C-A34A-1C6C361F6DF3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8CCD433E-5AD1-4FC1-A078-E2C6C18E6C55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สี่เหลี่ยมผืนผ้า: มุมมน 4">
            <a:extLst>
              <a:ext uri="{FF2B5EF4-FFF2-40B4-BE49-F238E27FC236}">
                <a16:creationId xmlns:a16="http://schemas.microsoft.com/office/drawing/2014/main" id="{C53B2F54-2899-4D27-92AA-F2F23563DC9F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857750" cy="3714750"/>
          </a:xfrm>
          <a:prstGeom prst="roundRect">
            <a:avLst>
              <a:gd name="adj" fmla="val 3077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2B45208A-7CD9-4011-8725-FBE411B02DC4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2F37A1A5-68F4-456F-AE52-E843B90D4D5E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เปิดลิงก์แอปฝ่ายจัดซื้อ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CBD74CA2-E6A7-4795-A905-7CC823EDF895}"/>
              </a:ext>
            </a:extLst>
          </p:cNvPr>
          <p:cNvSpPr>
            <a:spLocks noGrp="1"/>
          </p:cNvSpPr>
          <p:nvPr/>
        </p:nvSpPr>
        <p:spPr>
          <a:xfrm>
            <a:off x="1619250" y="2438400"/>
            <a:ext cx="3409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เลือกแผนก Purchase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F60B9A25-CEB6-4F32-BF72-872B3564C365}"/>
              </a:ext>
            </a:extLst>
          </p:cNvPr>
          <p:cNvSpPr>
            <a:spLocks noGrp="1"/>
          </p:cNvSpPr>
          <p:nvPr/>
        </p:nvSpPr>
        <p:spPr>
          <a:xfrm>
            <a:off x="1028700" y="31813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2AADCDA1-C9D9-42B3-B37A-1B75B8FE20FF}"/>
              </a:ext>
            </a:extLst>
          </p:cNvPr>
          <p:cNvSpPr>
            <a:spLocks noGrp="1"/>
          </p:cNvSpPr>
          <p:nvPr/>
        </p:nvSpPr>
        <p:spPr>
          <a:xfrm>
            <a:off x="1619250" y="318135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ใส่รหัสผ่านฝ่ายจัดซื้อ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A601FB4F-554D-468C-9500-3BF2D0281363}"/>
              </a:ext>
            </a:extLst>
          </p:cNvPr>
          <p:cNvSpPr>
            <a:spLocks noGrp="1"/>
          </p:cNvSpPr>
          <p:nvPr/>
        </p:nvSpPr>
        <p:spPr>
          <a:xfrm>
            <a:off x="1619250" y="3543300"/>
            <a:ext cx="3409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กดเข้าสู่ระบบเพียงครั้งเดียว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9958A4E1-686B-489E-A71C-3A370394C2C6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B6F6F777-E89D-49D7-8ED1-6D89D065E996}"/>
              </a:ext>
            </a:extLst>
          </p:cNvPr>
          <p:cNvSpPr>
            <a:spLocks noGrp="1"/>
          </p:cNvSpPr>
          <p:nvPr/>
        </p:nvSpPr>
        <p:spPr>
          <a:xfrm>
            <a:off x="1619250" y="428625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เลือกเมนูตามงาน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4DEA74F1-C244-4AA3-9F9F-77FD3E047FF9}"/>
              </a:ext>
            </a:extLst>
          </p:cNvPr>
          <p:cNvSpPr>
            <a:spLocks noGrp="1"/>
          </p:cNvSpPr>
          <p:nvPr/>
        </p:nvSpPr>
        <p:spPr>
          <a:xfrm>
            <a:off x="1619250" y="4648200"/>
            <a:ext cx="3409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บันทึกข้อมูลก่อนเปิดรายงาน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4288C354-9BD6-45D0-89DA-94BD563DD41C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ก่อนเริ่มรายการ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BC2C5BDA-3949-42CE-A3FB-31B98EF7A111}"/>
              </a:ext>
            </a:extLst>
          </p:cNvPr>
          <p:cNvSpPr>
            <a:spLocks noGrp="1"/>
          </p:cNvSpPr>
          <p:nvPr/>
        </p:nvSpPr>
        <p:spPr>
          <a:xfrm>
            <a:off x="6286500" y="24955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BEE0F82A-A69D-44BF-9BEA-2028C7584817}"/>
              </a:ext>
            </a:extLst>
          </p:cNvPr>
          <p:cNvSpPr>
            <a:spLocks noGrp="1"/>
          </p:cNvSpPr>
          <p:nvPr/>
        </p:nvSpPr>
        <p:spPr>
          <a:xfrm>
            <a:off x="6591300" y="24955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38"/>
                </a:solidFill>
              </a:defRPr>
            </a:pPr>
            <a:r>
              <a:rPr sz="1500" b="0">
                <a:solidFill>
                  <a:srgbClr val="152238"/>
                </a:solidFill>
              </a:rPr>
              <a:t>ตรวจชื่อผู้บันทึก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CC93D1A2-2620-4EC3-B4C8-7B117FB770D7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5B8BF0BD-D4BD-42B5-9EA9-0105D4BB6AE2}"/>
              </a:ext>
            </a:extLst>
          </p:cNvPr>
          <p:cNvSpPr>
            <a:spLocks noGrp="1"/>
          </p:cNvSpPr>
          <p:nvPr/>
        </p:nvSpPr>
        <p:spPr>
          <a:xfrm>
            <a:off x="6591300" y="308610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38"/>
                </a:solidFill>
              </a:defRPr>
            </a:pPr>
            <a:r>
              <a:rPr sz="1500" b="0">
                <a:solidFill>
                  <a:srgbClr val="152238"/>
                </a:solidFill>
              </a:rPr>
              <a:t>ตรวจวันที่เอกสาร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BCEA03F6-48EA-4711-A99D-7A5CC200DA29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58EFBB3F-24D7-45CC-8024-1416208470BF}"/>
              </a:ext>
            </a:extLst>
          </p:cNvPr>
          <p:cNvSpPr>
            <a:spLocks noGrp="1"/>
          </p:cNvSpPr>
          <p:nvPr/>
        </p:nvSpPr>
        <p:spPr>
          <a:xfrm>
            <a:off x="6591300" y="36766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38"/>
                </a:solidFill>
              </a:defRPr>
            </a:pPr>
            <a:r>
              <a:rPr sz="1500" b="0">
                <a:solidFill>
                  <a:srgbClr val="152238"/>
                </a:solidFill>
              </a:rPr>
              <a:t>เตรียม Invoice/หลักฐาน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A47F3057-C141-43C8-A833-649698CD8B2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49A8375A-313C-46A8-9001-DE361CA3EE53}"/>
              </a:ext>
            </a:extLst>
          </p:cNvPr>
          <p:cNvSpPr>
            <a:spLocks noGrp="1"/>
          </p:cNvSpPr>
          <p:nvPr/>
        </p:nvSpPr>
        <p:spPr>
          <a:xfrm>
            <a:off x="6591300" y="426720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38"/>
                </a:solidFill>
              </a:defRPr>
            </a:pPr>
            <a:r>
              <a:rPr sz="1500" b="0">
                <a:solidFill>
                  <a:srgbClr val="152238"/>
                </a:solidFill>
              </a:rPr>
              <a:t>ตรวจสาขาปลายทาง</a:t>
            </a:r>
          </a:p>
        </p:txBody>
      </p:sp>
      <p:sp>
        <p:nvSpPr>
          <p:cNvPr id="24" name="สี่เหลี่ยมผืนผ้า: มุมมน 23">
            <a:extLst>
              <a:ext uri="{FF2B5EF4-FFF2-40B4-BE49-F238E27FC236}">
                <a16:creationId xmlns:a16="http://schemas.microsoft.com/office/drawing/2014/main" id="{56567747-6A2E-4763-ACE4-4C526FAB6147}"/>
              </a:ext>
            </a:extLst>
          </p:cNvPr>
          <p:cNvSpPr>
            <a:spLocks noGrp="1"/>
          </p:cNvSpPr>
          <p:nvPr/>
        </p:nvSpPr>
        <p:spPr>
          <a:xfrm>
            <a:off x="6286500" y="5010150"/>
            <a:ext cx="4762500" cy="62865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1639EF04-39A3-47E8-AF96-35B9C1F92918}"/>
              </a:ext>
            </a:extLst>
          </p:cNvPr>
          <p:cNvSpPr>
            <a:spLocks noGrp="1"/>
          </p:cNvSpPr>
          <p:nvPr/>
        </p:nvSpPr>
        <p:spPr>
          <a:xfrm>
            <a:off x="6515100" y="5114925"/>
            <a:ext cx="430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C63C3C"/>
                </a:solidFill>
              </a:defRPr>
            </a:pPr>
            <a:r>
              <a:rPr sz="1425" b="1">
                <a:solidFill>
                  <a:srgbClr val="C63C3C"/>
                </a:solidFill>
              </a:rPr>
              <a:t>ห้ามใช้บัญชีร่วมกันหรือเปิดเผยรหัสผ่าน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0BFF0E32-0F82-4490-8192-0EC4BBB5381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เมนู 1 — วัตถุดิบและบรรจุภัณฑ์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9BE42A0-9040-465C-ACAA-38E144B84E4C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ข้อมูลหลักที่ครบทำให้รายงานคงเหลือเชื่อถือได้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1D832BDE-B418-441C-9ADC-41E3065E27E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ADCD2B93-5DD4-4CD9-8B09-711D20960583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33813003-2045-4924-BB65-3022D6CEA463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ข้อมูลที่ต้องกรอก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5D58CD5D-7864-4CC5-822A-94B312A8172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5C0DACE5-F838-4F07-9AD3-459D3B975BE0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ประเภทการซื้อ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6CD93E3B-F788-4E15-B518-20F6B1F6561E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0C2D6CB0-CE34-4DEC-8093-BFF44C35EE9F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ชื่อวัตถุดิบหรือบรรจุภัณฑ์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B6534813-4A42-4C5A-8B52-8749CD7E7377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1B4A7C4C-928D-492B-8C2D-CCF5FA9B9BA8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หน่วย เช่น ถุง ใบ กล่อง กิโลกรัม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CAEE7F5B-8DE6-494D-8032-B8E8DD8A45A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2E248AA5-60FB-4F91-B12D-5C0DAA44BB3C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ยอดขั้นต่ำ (Min)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C03637FD-A880-4064-A27F-C275D634DA8C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5048250" cy="28575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18E4670A-CF27-4E6D-A52E-6898434FCCF6}"/>
              </a:ext>
            </a:extLst>
          </p:cNvPr>
          <p:cNvSpPr>
            <a:spLocks noGrp="1"/>
          </p:cNvSpPr>
          <p:nvPr/>
        </p:nvSpPr>
        <p:spPr>
          <a:xfrm>
            <a:off x="6534150" y="20383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ระบบจัดการให้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F5CFEB8B-1382-4E26-9823-608CE7115A30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E5EB4588-6D34-4E58-AF62-75CE03F42EC0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สร้างรหัสรายการอัตโนมัติ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EC2E097B-65EF-40EC-8EE4-F79BE557DAFF}"/>
              </a:ext>
            </a:extLst>
          </p:cNvPr>
          <p:cNvSpPr>
            <a:spLocks noGrp="1"/>
          </p:cNvSpPr>
          <p:nvPr/>
        </p:nvSpPr>
        <p:spPr>
          <a:xfrm>
            <a:off x="6534150" y="30099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AB293DD2-BBB7-4E9A-A1B2-42BE17C327A0}"/>
              </a:ext>
            </a:extLst>
          </p:cNvPr>
          <p:cNvSpPr>
            <a:spLocks noGrp="1"/>
          </p:cNvSpPr>
          <p:nvPr/>
        </p:nvSpPr>
        <p:spPr>
          <a:xfrm>
            <a:off x="6838950" y="30099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กรองรายการตามประเภท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DE8D54C5-E933-4DE6-AD89-DA7ECE22D1D4}"/>
              </a:ext>
            </a:extLst>
          </p:cNvPr>
          <p:cNvSpPr>
            <a:spLocks noGrp="1"/>
          </p:cNvSpPr>
          <p:nvPr/>
        </p:nvSpPr>
        <p:spPr>
          <a:xfrm>
            <a:off x="6534150" y="34671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E4AC523A-16F4-431F-89B1-CCBA876BFEAF}"/>
              </a:ext>
            </a:extLst>
          </p:cNvPr>
          <p:cNvSpPr>
            <a:spLocks noGrp="1"/>
          </p:cNvSpPr>
          <p:nvPr/>
        </p:nvSpPr>
        <p:spPr>
          <a:xfrm>
            <a:off x="6838950" y="34671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แก้ไขชื่อ หน่วย และ Min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FE746728-5594-4A2A-A60F-8B9A2C8AC4CD}"/>
              </a:ext>
            </a:extLst>
          </p:cNvPr>
          <p:cNvSpPr>
            <a:spLocks noGrp="1"/>
          </p:cNvSpPr>
          <p:nvPr/>
        </p:nvSpPr>
        <p:spPr>
          <a:xfrm>
            <a:off x="6534150" y="3924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720037D5-514E-4309-B775-C6C1346C2190}"/>
              </a:ext>
            </a:extLst>
          </p:cNvPr>
          <p:cNvSpPr>
            <a:spLocks noGrp="1"/>
          </p:cNvSpPr>
          <p:nvPr/>
        </p:nvSpPr>
        <p:spPr>
          <a:xfrm>
            <a:off x="6838950" y="39243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ลบเฉพาะรายการที่ยืนยันแล้ว</a:t>
            </a:r>
          </a:p>
        </p:txBody>
      </p:sp>
      <p:sp>
        <p:nvSpPr>
          <p:cNvPr id="24" name="สี่เหลี่ยมผืนผ้า: มุมมน 23">
            <a:extLst>
              <a:ext uri="{FF2B5EF4-FFF2-40B4-BE49-F238E27FC236}">
                <a16:creationId xmlns:a16="http://schemas.microsoft.com/office/drawing/2014/main" id="{B27F7B2D-D0C7-47D5-984F-22BB8A9E6140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553700" cy="628650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DAE42D37-754F-444D-9943-51567E696906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0077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จุดควบคุม: ห้ามสร้างชื่อซ้ำ หน่วยต้องชัด และ Min ต้องสะท้อนการใช้จริงของสาขา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9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สี่เหลี่ยมผืนผ้า 29">
            <a:extLst>
              <a:ext uri="{FF2B5EF4-FFF2-40B4-BE49-F238E27FC236}">
                <a16:creationId xmlns:a16="http://schemas.microsoft.com/office/drawing/2014/main" id="{D02BDE33-1A1A-4B88-87F4-E466D24B376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เมนู 2 — บันทึกการจัดซื้อ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683587EB-3ACB-4DB8-B4FF-58FF1DF76A44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ใบสั่งซื้อเก็บรายละเอียดต้นทุนตั้งแต่ต้นทาง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190C4727-75F2-4BFB-9C73-34D42C291033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D663811B-861F-4A63-B77F-A6AE24787458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17CE0697-0D26-482D-B704-DB81C858C22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7AAB3B0D-878A-4FD4-B26C-5A3EE308E1AC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วันที่ซื้อ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7CA1C13-8428-40DF-BDA8-68644396ECC4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2384FC7A-16A8-4E21-AA5E-A46434FD33E2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ชื่อผู้ขาย / Supplier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187B4E38-9B38-4ACB-BE5E-BC6A94EBAA28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100B6343-DBFB-463B-8EE3-0DFC56D3DA94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เลขที่ Invoice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8D10E80-C912-4490-9C42-B5EB8273E7E1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26FBFFC3-6C42-44A2-A623-B1A951FACD75}"/>
              </a:ext>
            </a:extLst>
          </p:cNvPr>
          <p:cNvSpPr>
            <a:spLocks noGrp="1"/>
          </p:cNvSpPr>
          <p:nvPr/>
        </p:nvSpPr>
        <p:spPr>
          <a:xfrm>
            <a:off x="990600" y="32956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ประเภทการซื้อ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00ABF865-FD66-49D5-9A94-0973221E60BA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4464822A-BF4F-4C53-9045-2FD18D7042CE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ชื่อผู้บันทึกและหมายเหตุ</a:t>
            </a:r>
          </a:p>
        </p:txBody>
      </p:sp>
      <p:sp>
        <p:nvSpPr>
          <p:cNvPr id="15" name="สี่เหลี่ยมผืนผ้า: มุมมน 14">
            <a:extLst>
              <a:ext uri="{FF2B5EF4-FFF2-40B4-BE49-F238E27FC236}">
                <a16:creationId xmlns:a16="http://schemas.microsoft.com/office/drawing/2014/main" id="{B36F077F-0B0E-42A2-8805-14C52B6A6F31}"/>
              </a:ext>
            </a:extLst>
          </p:cNvPr>
          <p:cNvSpPr>
            <a:spLocks noGrp="1"/>
          </p:cNvSpPr>
          <p:nvPr/>
        </p:nvSpPr>
        <p:spPr>
          <a:xfrm>
            <a:off x="6191250" y="1771650"/>
            <a:ext cx="5048250" cy="3238500"/>
          </a:xfrm>
          <a:prstGeom prst="roundRect">
            <a:avLst>
              <a:gd name="adj" fmla="val 3529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2C108619-71D9-4A65-A896-C70D10C99926}"/>
              </a:ext>
            </a:extLst>
          </p:cNvPr>
          <p:cNvSpPr>
            <a:spLocks noGrp="1"/>
          </p:cNvSpPr>
          <p:nvPr/>
        </p:nvSpPr>
        <p:spPr>
          <a:xfrm>
            <a:off x="6534150" y="20383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รายการสินค้าในใบสั่งซื้อ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135E5C27-DBA2-4672-AA54-94FE64565576}"/>
              </a:ext>
            </a:extLst>
          </p:cNvPr>
          <p:cNvSpPr>
            <a:spLocks noGrp="1"/>
          </p:cNvSpPr>
          <p:nvPr/>
        </p:nvSpPr>
        <p:spPr>
          <a:xfrm>
            <a:off x="6534150" y="2571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CB7F9CA6-8591-4307-9FBA-F4F972791DC7}"/>
              </a:ext>
            </a:extLst>
          </p:cNvPr>
          <p:cNvSpPr>
            <a:spLocks noGrp="1"/>
          </p:cNvSpPr>
          <p:nvPr/>
        </p:nvSpPr>
        <p:spPr>
          <a:xfrm>
            <a:off x="6838950" y="25717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กำหนดจำนวนรายการ 1–10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DAE413EA-A9B5-4904-A213-74D0A1A6923A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C3C69F5D-2B6C-4EC1-9A77-8B2E02E6C107}"/>
              </a:ext>
            </a:extLst>
          </p:cNvPr>
          <p:cNvSpPr>
            <a:spLocks noGrp="1"/>
          </p:cNvSpPr>
          <p:nvPr/>
        </p:nvSpPr>
        <p:spPr>
          <a:xfrm>
            <a:off x="6838950" y="30289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เลือกสินค้าแต่ละรายการ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8E9B945D-4807-4062-8EB6-BF8CED71970E}"/>
              </a:ext>
            </a:extLst>
          </p:cNvPr>
          <p:cNvSpPr>
            <a:spLocks noGrp="1"/>
          </p:cNvSpPr>
          <p:nvPr/>
        </p:nvSpPr>
        <p:spPr>
          <a:xfrm>
            <a:off x="6534150" y="3486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E4F22171-B3AA-469B-9184-AF4EEAEDB6D1}"/>
              </a:ext>
            </a:extLst>
          </p:cNvPr>
          <p:cNvSpPr>
            <a:spLocks noGrp="1"/>
          </p:cNvSpPr>
          <p:nvPr/>
        </p:nvSpPr>
        <p:spPr>
          <a:xfrm>
            <a:off x="6838950" y="34861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กรอกจำนวน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6390C8E6-4EB8-4C35-95F9-8DB9C2C84074}"/>
              </a:ext>
            </a:extLst>
          </p:cNvPr>
          <p:cNvSpPr>
            <a:spLocks noGrp="1"/>
          </p:cNvSpPr>
          <p:nvPr/>
        </p:nvSpPr>
        <p:spPr>
          <a:xfrm>
            <a:off x="6534150" y="39433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B2993614-DC30-4B18-BC1D-866E957E6188}"/>
              </a:ext>
            </a:extLst>
          </p:cNvPr>
          <p:cNvSpPr>
            <a:spLocks noGrp="1"/>
          </p:cNvSpPr>
          <p:nvPr/>
        </p:nvSpPr>
        <p:spPr>
          <a:xfrm>
            <a:off x="6838950" y="39433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กรอกราคา/หน่วยรวม VAT</a:t>
            </a:r>
          </a:p>
        </p:txBody>
      </p: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A8123EEC-4CFE-474B-89BF-C01F1B1E61C5}"/>
              </a:ext>
            </a:extLst>
          </p:cNvPr>
          <p:cNvSpPr>
            <a:spLocks noGrp="1"/>
          </p:cNvSpPr>
          <p:nvPr/>
        </p:nvSpPr>
        <p:spPr>
          <a:xfrm>
            <a:off x="6534150" y="44005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6" name="สี่เหลี่ยมผืนผ้า 25">
            <a:extLst>
              <a:ext uri="{FF2B5EF4-FFF2-40B4-BE49-F238E27FC236}">
                <a16:creationId xmlns:a16="http://schemas.microsoft.com/office/drawing/2014/main" id="{C16E8263-69DC-4290-96EC-628D1CB3DA8F}"/>
              </a:ext>
            </a:extLst>
          </p:cNvPr>
          <p:cNvSpPr>
            <a:spLocks noGrp="1"/>
          </p:cNvSpPr>
          <p:nvPr/>
        </p:nvSpPr>
        <p:spPr>
          <a:xfrm>
            <a:off x="6838950" y="44005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ตรวจยอดเงินซื้อรวม VAT</a:t>
            </a:r>
          </a:p>
        </p:txBody>
      </p:sp>
      <p:sp>
        <p:nvSpPr>
          <p:cNvPr id="27" name="สี่เหลี่ยมผืนผ้า: มุมมน 26">
            <a:extLst>
              <a:ext uri="{FF2B5EF4-FFF2-40B4-BE49-F238E27FC236}">
                <a16:creationId xmlns:a16="http://schemas.microsoft.com/office/drawing/2014/main" id="{14861E20-6644-4795-9BB1-F9CB8756B2EE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553700" cy="571500"/>
          </a:xfrm>
          <a:prstGeom prst="roundRect">
            <a:avLst>
              <a:gd name="adj" fmla="val 20000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28" name="สี่เหลี่ยมผืนผ้า 27">
            <a:extLst>
              <a:ext uri="{FF2B5EF4-FFF2-40B4-BE49-F238E27FC236}">
                <a16:creationId xmlns:a16="http://schemas.microsoft.com/office/drawing/2014/main" id="{5CF1D353-BAD3-4851-8AB8-2AB2EF7FFA88}"/>
              </a:ext>
            </a:extLst>
          </p:cNvPr>
          <p:cNvSpPr>
            <a:spLocks noGrp="1"/>
          </p:cNvSpPr>
          <p:nvPr/>
        </p:nvSpPr>
        <p:spPr>
          <a:xfrm>
            <a:off x="933450" y="5381625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ก่อนบันทึก: ยอดรวม VAT ต้องตรง Invoice และราคา/หน่วยต้องใช้หน่วยเดียวกับข้อมูลหลัก</a:t>
            </a:r>
          </a:p>
        </p:txBody>
      </p:sp>
      <p:pic>
        <p:nvPicPr>
          <p:cNvPr id="58" name="รูปภาพ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1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สี่เหลี่ยมผืนผ้า 25">
            <a:extLst>
              <a:ext uri="{FF2B5EF4-FFF2-40B4-BE49-F238E27FC236}">
                <a16:creationId xmlns:a16="http://schemas.microsoft.com/office/drawing/2014/main" id="{A1B6A5D7-F8EF-40D9-8372-F2A9438207D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ควบคุมใบสั่งซื้อ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4163387-B824-4ED8-9C66-AA9D64EE4A3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รายการที่บันทึกแล้วต้องตรวจ แก้ไข หรือลบอย่างมีเหตุผล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25616F5E-5618-4C87-BA11-6B4BDE392997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0F20C08-EFD8-47B7-9F7F-FB1F5E32D139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035BB699-2F4B-42B3-A826-DB6635153DE8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2DB4E567-DC25-4E33-B136-FAC7B4A33A6C}"/>
              </a:ext>
            </a:extLst>
          </p:cNvPr>
          <p:cNvSpPr>
            <a:spLocks noGrp="1"/>
          </p:cNvSpPr>
          <p:nvPr/>
        </p:nvSpPr>
        <p:spPr>
          <a:xfrm>
            <a:off x="1276350" y="18478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เปิดรายการล่าสุด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5A35A68-A25D-4C24-A485-6FFA84C315D4}"/>
              </a:ext>
            </a:extLst>
          </p:cNvPr>
          <p:cNvSpPr>
            <a:spLocks noGrp="1"/>
          </p:cNvSpPr>
          <p:nvPr/>
        </p:nvSpPr>
        <p:spPr>
          <a:xfrm>
            <a:off x="1276350" y="220980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ตรวจเลขที่ วันที่ ผู้ขาย และยอดรวม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05FC1AB6-3084-4049-9292-4837C527B28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8FA98B76-5413-4CF8-8A08-86296EF68236}"/>
              </a:ext>
            </a:extLst>
          </p:cNvPr>
          <p:cNvSpPr>
            <a:spLocks noGrp="1"/>
          </p:cNvSpPr>
          <p:nvPr/>
        </p:nvSpPr>
        <p:spPr>
          <a:xfrm>
            <a:off x="1276350" y="30099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เปิดรายละเอียดสินค้า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0A26AC08-D841-4DAB-942E-00AB657F32D6}"/>
              </a:ext>
            </a:extLst>
          </p:cNvPr>
          <p:cNvSpPr>
            <a:spLocks noGrp="1"/>
          </p:cNvSpPr>
          <p:nvPr/>
        </p:nvSpPr>
        <p:spPr>
          <a:xfrm>
            <a:off x="1276350" y="33718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ตรวจจำนวน ราคา/หน่วย และมูลค่า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B7DFCA5D-2C5E-4E35-9EE6-95C0FF99AB88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71FF0149-B186-4061-928D-DACAE539702F}"/>
              </a:ext>
            </a:extLst>
          </p:cNvPr>
          <p:cNvSpPr>
            <a:spLocks noGrp="1"/>
          </p:cNvSpPr>
          <p:nvPr/>
        </p:nvSpPr>
        <p:spPr>
          <a:xfrm>
            <a:off x="1276350" y="41719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แก้ไขข้อมูลหัวเอกสาร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909FD6BE-31D5-4B09-B1C9-FFAC8A50BB90}"/>
              </a:ext>
            </a:extLst>
          </p:cNvPr>
          <p:cNvSpPr>
            <a:spLocks noGrp="1"/>
          </p:cNvSpPr>
          <p:nvPr/>
        </p:nvSpPr>
        <p:spPr>
          <a:xfrm>
            <a:off x="1276350" y="453390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ผู้ขาย Invoice ประเภท ยอดรวม และหมายเหตุ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F7D0A8CD-C6B9-476E-A049-FBC1261C6083}"/>
              </a:ext>
            </a:extLst>
          </p:cNvPr>
          <p:cNvSpPr>
            <a:spLocks noGrp="1"/>
          </p:cNvSpPr>
          <p:nvPr/>
        </p:nvSpPr>
        <p:spPr>
          <a:xfrm>
            <a:off x="6191250" y="1847850"/>
            <a:ext cx="5048250" cy="2247900"/>
          </a:xfrm>
          <a:prstGeom prst="roundRect">
            <a:avLst>
              <a:gd name="adj" fmla="val 5085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FB33F84E-86E9-4B04-BF89-9D634F9081B5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C63C3C"/>
                </a:solidFill>
              </a:defRPr>
            </a:pPr>
            <a:r>
              <a:rPr sz="1875" b="1">
                <a:solidFill>
                  <a:srgbClr val="C63C3C"/>
                </a:solidFill>
              </a:rPr>
              <a:t>การลบรายการ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06D06C08-A3C1-48ED-9D79-207D2C27065F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CE0E5D39-BADC-443C-914B-B4A7C3D7AEDA}"/>
              </a:ext>
            </a:extLst>
          </p:cNvPr>
          <p:cNvSpPr>
            <a:spLocks noGrp="1"/>
          </p:cNvSpPr>
          <p:nvPr/>
        </p:nvSpPr>
        <p:spPr>
          <a:xfrm>
            <a:off x="6838950" y="26289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ใช้เมื่อบันทึกผิดจริง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B28C3716-0DBD-421C-A315-FF3167C4446F}"/>
              </a:ext>
            </a:extLst>
          </p:cNvPr>
          <p:cNvSpPr>
            <a:spLocks noGrp="1"/>
          </p:cNvSpPr>
          <p:nvPr/>
        </p:nvSpPr>
        <p:spPr>
          <a:xfrm>
            <a:off x="6534150" y="30861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07F169CA-F90A-4EE6-BDBB-2C288959D228}"/>
              </a:ext>
            </a:extLst>
          </p:cNvPr>
          <p:cNvSpPr>
            <a:spLocks noGrp="1"/>
          </p:cNvSpPr>
          <p:nvPr/>
        </p:nvSpPr>
        <p:spPr>
          <a:xfrm>
            <a:off x="6838950" y="30861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ยืนยันก่อนลบทุกครั้ง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5B31B4AF-46B0-4AF3-949B-42B1E67698C8}"/>
              </a:ext>
            </a:extLst>
          </p:cNvPr>
          <p:cNvSpPr>
            <a:spLocks noGrp="1"/>
          </p:cNvSpPr>
          <p:nvPr/>
        </p:nvSpPr>
        <p:spPr>
          <a:xfrm>
            <a:off x="6534150" y="35433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C791CBDE-1855-40F0-8E90-BF3020AAF83A}"/>
              </a:ext>
            </a:extLst>
          </p:cNvPr>
          <p:cNvSpPr>
            <a:spLocks noGrp="1"/>
          </p:cNvSpPr>
          <p:nvPr/>
        </p:nvSpPr>
        <p:spPr>
          <a:xfrm>
            <a:off x="6838950" y="35433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ตรวจผลต่อ stock movement</a:t>
            </a:r>
          </a:p>
        </p:txBody>
      </p:sp>
      <p:sp>
        <p:nvSpPr>
          <p:cNvPr id="22" name="สี่เหลี่ยมผืนผ้า: มุมมน 21">
            <a:extLst>
              <a:ext uri="{FF2B5EF4-FFF2-40B4-BE49-F238E27FC236}">
                <a16:creationId xmlns:a16="http://schemas.microsoft.com/office/drawing/2014/main" id="{9D7D21DC-0A7C-41AF-86ED-1226AD7E3CBA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5048250" cy="990600"/>
          </a:xfrm>
          <a:prstGeom prst="roundRect">
            <a:avLst>
              <a:gd name="adj" fmla="val 11538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85B8771C-4480-461C-98E8-1EF6C445ED99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หลักฐานที่ควรเก็บ</a:t>
            </a:r>
          </a:p>
        </p:txBody>
      </p:sp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C8BF174B-877A-45EE-977C-B8F4EB2D2462}"/>
              </a:ext>
            </a:extLst>
          </p:cNvPr>
          <p:cNvSpPr>
            <a:spLocks noGrp="1"/>
          </p:cNvSpPr>
          <p:nvPr/>
        </p:nvSpPr>
        <p:spPr>
          <a:xfrm>
            <a:off x="6534150" y="49911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Invoice • ผู้แก้ไข • วันที่แก้ไข • เหตุผล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สี่เหลี่ยมผืนผ้า 25">
            <a:extLst>
              <a:ext uri="{FF2B5EF4-FFF2-40B4-BE49-F238E27FC236}">
                <a16:creationId xmlns:a16="http://schemas.microsoft.com/office/drawing/2014/main" id="{BD172CC9-A977-4B72-8BAC-56D69A63435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เมนู 3 — เบิกสินค้าเข้าสาขา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F42A314-47BC-4AC1-9A66-08BE46F3D23F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การเบิกเข้าสาขาต้องระบุปลายทางและต้นทุนให้ถูกต้อง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99A0A9A-6A51-460E-BD85-C27149ABA750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3584DC3-D1CF-44F7-8DE8-04D05FE78523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81912F3A-C0D7-4BD2-9E5B-DC9DB55064E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52238"/>
                </a:solidFill>
              </a:defRPr>
            </a:pPr>
            <a:r>
              <a:rPr sz="1950" b="1">
                <a:solidFill>
                  <a:srgbClr val="152238"/>
                </a:solidFill>
              </a:rPr>
              <a:t>ข้อมูลหัวรายการ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8A58F467-3F1B-4EC7-8E47-A122A31BC2C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CCE86A6A-1FFE-4D7A-AC03-03E452525FFC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วันที่เบิก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EC79B172-7A9C-4DF9-8358-C26036B11764}"/>
              </a:ext>
            </a:extLst>
          </p:cNvPr>
          <p:cNvSpPr>
            <a:spLocks noGrp="1"/>
          </p:cNvSpPr>
          <p:nvPr/>
        </p:nvSpPr>
        <p:spPr>
          <a:xfrm>
            <a:off x="685800" y="28670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507DF410-F950-46EA-ACBC-157B9F090748}"/>
              </a:ext>
            </a:extLst>
          </p:cNvPr>
          <p:cNvSpPr>
            <a:spLocks noGrp="1"/>
          </p:cNvSpPr>
          <p:nvPr/>
        </p:nvSpPr>
        <p:spPr>
          <a:xfrm>
            <a:off x="990600" y="286702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สาขาปลายทาง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660CEDD5-7365-40BC-B76D-35F76E5A130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0BCF4FD6-DF56-49E5-BCF8-FD0D8C9B6787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ชื่อผู้บันทึก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C46291F7-DB97-4785-82D8-36D9AFBCBD8C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80E08FD1-E290-4C96-AD67-EAFC99D0AE5F}"/>
              </a:ext>
            </a:extLst>
          </p:cNvPr>
          <p:cNvSpPr>
            <a:spLocks noGrp="1"/>
          </p:cNvSpPr>
          <p:nvPr/>
        </p:nvSpPr>
        <p:spPr>
          <a:xfrm>
            <a:off x="990600" y="391477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หมายเหตุการส่ง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319F947-6774-4DEF-A615-75B061EAA6B5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52238"/>
                </a:solidFill>
              </a:defRPr>
            </a:pPr>
            <a:r>
              <a:rPr sz="1950" b="1">
                <a:solidFill>
                  <a:srgbClr val="152238"/>
                </a:solidFill>
              </a:rPr>
              <a:t>รายการที่ส่ง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4E76916F-3E1A-4DD9-B212-15DCEC55E6B1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0EF86700-5FEA-40F8-8AD6-120FE01394DD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เลือกสินค้าได้สูงสุด 20 รายการ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ED2B1EB2-C303-4E97-AA81-AE6492EE0090}"/>
              </a:ext>
            </a:extLst>
          </p:cNvPr>
          <p:cNvSpPr>
            <a:spLocks noGrp="1"/>
          </p:cNvSpPr>
          <p:nvPr/>
        </p:nvSpPr>
        <p:spPr>
          <a:xfrm>
            <a:off x="6191250" y="28670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FA952755-135D-4C33-B11F-5D6BA1E4B6BA}"/>
              </a:ext>
            </a:extLst>
          </p:cNvPr>
          <p:cNvSpPr>
            <a:spLocks noGrp="1"/>
          </p:cNvSpPr>
          <p:nvPr/>
        </p:nvSpPr>
        <p:spPr>
          <a:xfrm>
            <a:off x="6496050" y="286702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กรอกจำนวนที่ส่ง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2F064596-5180-4111-836B-A4089EE1304B}"/>
              </a:ext>
            </a:extLst>
          </p:cNvPr>
          <p:cNvSpPr>
            <a:spLocks noGrp="1"/>
          </p:cNvSpPr>
          <p:nvPr/>
        </p:nvSpPr>
        <p:spPr>
          <a:xfrm>
            <a:off x="6191250" y="33909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CFA0894C-CFFA-41EB-BDBF-A445731610D5}"/>
              </a:ext>
            </a:extLst>
          </p:cNvPr>
          <p:cNvSpPr>
            <a:spLocks noGrp="1"/>
          </p:cNvSpPr>
          <p:nvPr/>
        </p:nvSpPr>
        <p:spPr>
          <a:xfrm>
            <a:off x="6496050" y="339090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ระบบดึงต้นทุนต่อหน่วยอัตโนมัติ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AEC3D897-423D-4164-9B9A-04B4B53A4FDE}"/>
              </a:ext>
            </a:extLst>
          </p:cNvPr>
          <p:cNvSpPr>
            <a:spLocks noGrp="1"/>
          </p:cNvSpPr>
          <p:nvPr/>
        </p:nvSpPr>
        <p:spPr>
          <a:xfrm>
            <a:off x="6191250" y="39147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AE31241C-DEDB-4D83-8084-34223682EEBE}"/>
              </a:ext>
            </a:extLst>
          </p:cNvPr>
          <p:cNvSpPr>
            <a:spLocks noGrp="1"/>
          </p:cNvSpPr>
          <p:nvPr/>
        </p:nvSpPr>
        <p:spPr>
          <a:xfrm>
            <a:off x="6496050" y="391477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ตรวจหรือแก้ไขต้นทุนก่อนบันทึก</a:t>
            </a:r>
          </a:p>
        </p:txBody>
      </p:sp>
      <p:sp>
        <p:nvSpPr>
          <p:cNvPr id="23" name="สี่เหลี่ยมผืนผ้า: มุมมน 22">
            <a:extLst>
              <a:ext uri="{FF2B5EF4-FFF2-40B4-BE49-F238E27FC236}">
                <a16:creationId xmlns:a16="http://schemas.microsoft.com/office/drawing/2014/main" id="{4561F704-D49F-4B0E-AD6A-CD89E7027629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553700" cy="742950"/>
          </a:xfrm>
          <a:prstGeom prst="roundRect">
            <a:avLst>
              <a:gd name="adj" fmla="val 15385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7A983F97-0F12-4131-8D47-C69FB16C6679}"/>
              </a:ext>
            </a:extLst>
          </p:cNvPr>
          <p:cNvSpPr>
            <a:spLocks noGrp="1"/>
          </p:cNvSpPr>
          <p:nvPr/>
        </p:nvSpPr>
        <p:spPr>
          <a:xfrm>
            <a:off x="933450" y="5124450"/>
            <a:ext cx="1005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ต้นทุนอัตโนมัติใช้ standard cost ก่อน หากเป็น 0 จะใช้ราคาซื้อล่าสุดจากประวัติใบสั่งซื้อ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6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8924BE67-CA4B-4BE8-98BA-E29EA17F1CF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แก้ไขและผลต่อสต๊อก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A8298DA-A7E2-403D-94C1-EE4F1468B1FD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ทุกการเบิกสร้าง movement เพื่อเชื่อมกับสต๊อกคงเหลือ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0BDD8346-E769-4FAB-860B-8C83E535D83A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35D3FB29-E044-4A36-ACAD-D3CD62BB18AC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F15D1B6A-5F09-47D0-B959-B17517A640A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7EB2D972-C325-4D0A-BD7D-B8C31746CEAD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บันทึกการเบิก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57BBDF72-5D00-48BE-BB6A-545BDE14E23B}"/>
              </a:ext>
            </a:extLst>
          </p:cNvPr>
          <p:cNvSpPr>
            <a:spLocks noGrp="1"/>
          </p:cNvSpPr>
          <p:nvPr/>
        </p:nvSpPr>
        <p:spPr>
          <a:xfrm>
            <a:off x="1276350" y="224790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สร้างเลขที่ SI และยอดมูลค่ารายการ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E4EEBF4-43E5-4544-B8A8-4A083ECA592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27388D47-DAE1-403B-9DE6-75952CB6F175}"/>
              </a:ext>
            </a:extLst>
          </p:cNvPr>
          <p:cNvSpPr>
            <a:spLocks noGrp="1"/>
          </p:cNvSpPr>
          <p:nvPr/>
        </p:nvSpPr>
        <p:spPr>
          <a:xfrm>
            <a:off x="1276350" y="30480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สร้าง stock movement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1EE18097-3492-46EA-9142-2EA1F4CD9905}"/>
              </a:ext>
            </a:extLst>
          </p:cNvPr>
          <p:cNvSpPr>
            <a:spLocks noGrp="1"/>
          </p:cNvSpPr>
          <p:nvPr/>
        </p:nvSpPr>
        <p:spPr>
          <a:xfrm>
            <a:off x="1276350" y="34099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ส่วนกลางเป็นยอดออก สาขาเป็นยอดเข้า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244E5A88-3A9E-474B-8192-59B2380C7D9E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22DB4815-93F0-43A1-92E7-99A3B1C579D9}"/>
              </a:ext>
            </a:extLst>
          </p:cNvPr>
          <p:cNvSpPr>
            <a:spLocks noGrp="1"/>
          </p:cNvSpPr>
          <p:nvPr/>
        </p:nvSpPr>
        <p:spPr>
          <a:xfrm>
            <a:off x="1276350" y="421005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แก้ไขจำนวน/ต้นทุน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2867D5C7-E67D-4322-8989-0B2D81093CCC}"/>
              </a:ext>
            </a:extLst>
          </p:cNvPr>
          <p:cNvSpPr>
            <a:spLocks noGrp="1"/>
          </p:cNvSpPr>
          <p:nvPr/>
        </p:nvSpPr>
        <p:spPr>
          <a:xfrm>
            <a:off x="1276350" y="457200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ระบบสร้าง movement ใหม่ให้ตรงรายการ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0F118A53-7C4C-43AF-96FC-7593E477081D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5048250" cy="28575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E32A1C91-2C38-47A8-910B-2C0251B3ECFD}"/>
              </a:ext>
            </a:extLst>
          </p:cNvPr>
          <p:cNvSpPr>
            <a:spLocks noGrp="1"/>
          </p:cNvSpPr>
          <p:nvPr/>
        </p:nvSpPr>
        <p:spPr>
          <a:xfrm>
            <a:off x="6534150" y="21336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C63C3C"/>
                </a:solidFill>
              </a:defRPr>
            </a:pPr>
            <a:r>
              <a:rPr sz="1875" b="1">
                <a:solidFill>
                  <a:srgbClr val="C63C3C"/>
                </a:solidFill>
              </a:rPr>
              <a:t>เมื่อต้องลบ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D2EE4460-E7FB-4F43-A263-DB3FEC2D17EF}"/>
              </a:ext>
            </a:extLst>
          </p:cNvPr>
          <p:cNvSpPr>
            <a:spLocks noGrp="1"/>
          </p:cNvSpPr>
          <p:nvPr/>
        </p:nvSpPr>
        <p:spPr>
          <a:xfrm>
            <a:off x="6534150" y="26670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5CC5D2C8-963B-4BF7-A462-902B68C286B5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ยืนยันรายการและสาขา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F2107453-2848-48C5-BA09-B6D23901F635}"/>
              </a:ext>
            </a:extLst>
          </p:cNvPr>
          <p:cNvSpPr>
            <a:spLocks noGrp="1"/>
          </p:cNvSpPr>
          <p:nvPr/>
        </p:nvSpPr>
        <p:spPr>
          <a:xfrm>
            <a:off x="6534150" y="31242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576E998C-6508-41BE-85FA-4A3E09483969}"/>
              </a:ext>
            </a:extLst>
          </p:cNvPr>
          <p:cNvSpPr>
            <a:spLocks noGrp="1"/>
          </p:cNvSpPr>
          <p:nvPr/>
        </p:nvSpPr>
        <p:spPr>
          <a:xfrm>
            <a:off x="6838950" y="31242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ลบ movement ที่อ้างอิง SI เดียวกัน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62223681-AB8F-4170-9399-F91B5BBF7B49}"/>
              </a:ext>
            </a:extLst>
          </p:cNvPr>
          <p:cNvSpPr>
            <a:spLocks noGrp="1"/>
          </p:cNvSpPr>
          <p:nvPr/>
        </p:nvSpPr>
        <p:spPr>
          <a:xfrm>
            <a:off x="6534150" y="35814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F5093056-4507-476F-A167-4DA1829BBA3D}"/>
              </a:ext>
            </a:extLst>
          </p:cNvPr>
          <p:cNvSpPr>
            <a:spLocks noGrp="1"/>
          </p:cNvSpPr>
          <p:nvPr/>
        </p:nvSpPr>
        <p:spPr>
          <a:xfrm>
            <a:off x="6838950" y="35814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ลบรายการเบิก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0CB31E13-FCBC-47EA-BDC1-463CD7698BB7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61651802-1390-4283-897C-8E4838553048}"/>
              </a:ext>
            </a:extLst>
          </p:cNvPr>
          <p:cNvSpPr>
            <a:spLocks noGrp="1"/>
          </p:cNvSpPr>
          <p:nvPr/>
        </p:nvSpPr>
        <p:spPr>
          <a:xfrm>
            <a:off x="6838950" y="403860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ตรวจรายงานคงเหลืออีกครั้ง</a:t>
            </a:r>
          </a:p>
        </p:txBody>
      </p:sp>
      <p:sp>
        <p:nvSpPr>
          <p:cNvPr id="24" name="สี่เหลี่ยมผืนผ้า: มุมมน 23">
            <a:extLst>
              <a:ext uri="{FF2B5EF4-FFF2-40B4-BE49-F238E27FC236}">
                <a16:creationId xmlns:a16="http://schemas.microsoft.com/office/drawing/2014/main" id="{5A114CBB-12D6-4A9E-89BD-A34D82B332B8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5048250" cy="628650"/>
          </a:xfrm>
          <a:prstGeom prst="roundRect">
            <a:avLst>
              <a:gd name="adj" fmla="val 18182"/>
            </a:avLst>
          </a:prstGeom>
          <a:solidFill>
            <a:srgbClr val="E8F5EF"/>
          </a:solidFill>
          <a:ln w="0">
            <a:noFill/>
            <a:prstDash val="solid"/>
          </a:ln>
        </p:spPr>
      </p: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8BEB0EA8-D7E9-4DCA-B0B5-F1642746619C}"/>
              </a:ext>
            </a:extLst>
          </p:cNvPr>
          <p:cNvSpPr>
            <a:spLocks noGrp="1"/>
          </p:cNvSpPr>
          <p:nvPr/>
        </p:nvSpPr>
        <p:spPr>
          <a:xfrm>
            <a:off x="6419850" y="5143500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67A5A"/>
                </a:solidFill>
              </a:defRPr>
            </a:pPr>
            <a:r>
              <a:rPr sz="1425" b="1">
                <a:solidFill>
                  <a:srgbClr val="167A5A"/>
                </a:solidFill>
              </a:rPr>
              <a:t>ผลลัพธ์: ยอดคงเหลือไม่ซ้ำและตรวจย้อนกลับได้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77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48149D6B-47A3-4F1B-8695-986C385D8C2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เมนู 4 — รายงานสต๊อกคงเหลือ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B73D3A5-B477-49F2-89B9-59E33FDAFF58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รายงานคงเหลือรวมการรับเข้าและเบิกออกของแต่ละจุด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6FCC3D23-407B-4636-8E7D-C415D5092C6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92897FD2-5DC6-43EF-9CA0-6F4D8A9134E1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3762F4A8-6565-40B2-92D2-9D27C85A2BD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วิธีใช้งาน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661D103D-3ED0-4FD1-934D-6BD25AFDB351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158E324B-41F5-45E0-9C35-4BFF299E4216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เลือกสาขาหรือส่วนกลาง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3DB32BD2-0B19-4F3D-981E-A8064DF834EA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38370E08-AD14-48C0-BB45-38FE592D4153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เลือกวันที่ดูการส่งเข้าสาขา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7728527A-576D-4934-A187-5D29A6F0CDE7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8FFD2D39-328B-4B83-86E6-01FD1B356DB3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ตรวจยอดเข้า ยอดออก และคงเหลือ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AB1D8A04-83A8-4D9A-893E-5E1BF101F942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A06FB5A6-9419-4C40-AFB5-C15D3BB7A2F9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เปรียบเทียบคงเหลือกับ Min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0D93386C-8FE6-4935-B426-9CA6AA81BA2E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5048250" cy="2952750"/>
          </a:xfrm>
          <a:prstGeom prst="roundRect">
            <a:avLst>
              <a:gd name="adj" fmla="val 3871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40B848A8-253B-40A1-A31C-4D4C2CCFBE7D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รายงานที่ดาวน์โหลดได้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82FB1EEF-740E-4A04-AB4D-9DD960E7C6AF}"/>
              </a:ext>
            </a:extLst>
          </p:cNvPr>
          <p:cNvSpPr>
            <a:spLocks noGrp="1"/>
          </p:cNvSpPr>
          <p:nvPr/>
        </p:nvSpPr>
        <p:spPr>
          <a:xfrm>
            <a:off x="6534150" y="26098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DD8F2971-CF3D-49B0-AABC-B377CACAB812}"/>
              </a:ext>
            </a:extLst>
          </p:cNvPr>
          <p:cNvSpPr>
            <a:spLocks noGrp="1"/>
          </p:cNvSpPr>
          <p:nvPr/>
        </p:nvSpPr>
        <p:spPr>
          <a:xfrm>
            <a:off x="6838950" y="26098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PDF รายการส่งเข้าสาขา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B871F5E8-AF5E-4BCB-A5B7-8453A1C06932}"/>
              </a:ext>
            </a:extLst>
          </p:cNvPr>
          <p:cNvSpPr>
            <a:spLocks noGrp="1"/>
          </p:cNvSpPr>
          <p:nvPr/>
        </p:nvSpPr>
        <p:spPr>
          <a:xfrm>
            <a:off x="6534150" y="3105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801BF2AE-0AB1-40D4-8D78-CBA2B65AF2C1}"/>
              </a:ext>
            </a:extLst>
          </p:cNvPr>
          <p:cNvSpPr>
            <a:spLocks noGrp="1"/>
          </p:cNvSpPr>
          <p:nvPr/>
        </p:nvSpPr>
        <p:spPr>
          <a:xfrm>
            <a:off x="6838950" y="31051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PDF ยอดคงเหลือทั้งหมด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1F5C4D8D-3624-449B-A74D-7FE3A9EBCB06}"/>
              </a:ext>
            </a:extLst>
          </p:cNvPr>
          <p:cNvSpPr>
            <a:spLocks noGrp="1"/>
          </p:cNvSpPr>
          <p:nvPr/>
        </p:nvSpPr>
        <p:spPr>
          <a:xfrm>
            <a:off x="6534150" y="36004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D40B748C-65B4-4B8F-8EB4-56E8874E4577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แสดงมูลค่าการเบิก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1783D5DF-948A-44B0-B3BC-0A8E0E7B03F2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17306AF7-3F47-4A1C-AE69-E6E390782504}"/>
              </a:ext>
            </a:extLst>
          </p:cNvPr>
          <p:cNvSpPr>
            <a:spLocks noGrp="1"/>
          </p:cNvSpPr>
          <p:nvPr/>
        </p:nvSpPr>
        <p:spPr>
          <a:xfrm>
            <a:off x="6838950" y="40957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38"/>
                </a:solidFill>
              </a:defRPr>
            </a:pPr>
            <a:r>
              <a:rPr sz="1425" b="0">
                <a:solidFill>
                  <a:srgbClr val="152238"/>
                </a:solidFill>
              </a:rPr>
              <a:t>ใช้แนบและส่งต่อสาขา</a:t>
            </a:r>
          </a:p>
        </p:txBody>
      </p:sp>
      <p:sp>
        <p:nvSpPr>
          <p:cNvPr id="24" name="สี่เหลี่ยมผืนผ้า: มุมมน 23">
            <a:extLst>
              <a:ext uri="{FF2B5EF4-FFF2-40B4-BE49-F238E27FC236}">
                <a16:creationId xmlns:a16="http://schemas.microsoft.com/office/drawing/2014/main" id="{E67934A1-80F0-43AC-A82B-E17BE2E797EC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553700" cy="609600"/>
          </a:xfrm>
          <a:prstGeom prst="roundRect">
            <a:avLst>
              <a:gd name="adj" fmla="val 18750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AC635C2F-70D5-42EF-A586-4D6F8B1C2709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ผู้บริหารควรใช้ยอดคงเหลือร่วมกับ Min และความถี่การใช้ ไม่พิจารณาจากจำนวนเพียงอย่างเดียว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2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40CE4373-A55A-4223-831B-1C7A7D386FA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Minimum Point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EA69946-993D-4D7D-B64F-0AF0A5412F7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รายการถึง Min ต้องถูกยกระดับเป็นงานเตรียมสั่งซื้อ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767385DD-E600-4DDC-A9D7-5FADB3DC880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FC9F0A4-5C15-4ABC-B492-9CEFE7ABEA56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5" name="สี่เหลี่ยมผืนผ้า: มุมมน 4">
            <a:extLst>
              <a:ext uri="{FF2B5EF4-FFF2-40B4-BE49-F238E27FC236}">
                <a16:creationId xmlns:a16="http://schemas.microsoft.com/office/drawing/2014/main" id="{D240EB21-E6CC-40E0-ADED-EFA7BC93F4C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762500" cy="2952750"/>
          </a:xfrm>
          <a:prstGeom prst="roundRect">
            <a:avLst>
              <a:gd name="adj" fmla="val 3871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1D93253A-E88B-4297-8008-6AB68A07A174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C63C3C"/>
                </a:solidFill>
              </a:defRPr>
            </a:pPr>
            <a:r>
              <a:rPr sz="2025" b="1">
                <a:solidFill>
                  <a:srgbClr val="C63C3C"/>
                </a:solidFill>
              </a:rPr>
              <a:t>เงื่อนไขเตือน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661BD1B6-2E4E-4A77-8FB8-E71BD71008F3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ยอดคงเหลือ ≤ ยอดขั้นต่ำ (Min)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0085BD87-EE09-453D-B141-C7E861391A8B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C63C3C"/>
                </a:solidFill>
              </a:defRPr>
            </a:pPr>
            <a:r>
              <a:rPr sz="1500" b="1">
                <a:solidFill>
                  <a:srgbClr val="C63C3C"/>
                </a:solidFill>
              </a:rPr>
              <a:t>ระบบแสดงสีแดงทั้งบรรทัด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F2508AF0-9224-4D00-93D3-421A71F43257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ดาวน์โหลด PDF รายการที่ต้องสั่งซื้อได้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7C49AC43-74DE-42DB-A65E-5444F51C884C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ขั้นตอนตอบสนอง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DB80E4F3-01FF-4E21-9988-46DFA48A30C2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F7A40D60-E080-4930-85EB-861DDC74F4F3}"/>
              </a:ext>
            </a:extLst>
          </p:cNvPr>
          <p:cNvSpPr>
            <a:spLocks noGrp="1"/>
          </p:cNvSpPr>
          <p:nvPr/>
        </p:nvSpPr>
        <p:spPr>
          <a:xfrm>
            <a:off x="6781800" y="24765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ตรวจยอดจริง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C9CA0D71-195D-4E8E-8F03-E4A2566CDE6B}"/>
              </a:ext>
            </a:extLst>
          </p:cNvPr>
          <p:cNvSpPr>
            <a:spLocks noGrp="1"/>
          </p:cNvSpPr>
          <p:nvPr/>
        </p:nvSpPr>
        <p:spPr>
          <a:xfrm>
            <a:off x="6781800" y="2838450"/>
            <a:ext cx="4171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ยืนยันว่า movement และการนับถูกต้อง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0620D5E3-EB26-4DBF-AB49-4F6F1E7E4041}"/>
              </a:ext>
            </a:extLst>
          </p:cNvPr>
          <p:cNvSpPr>
            <a:spLocks noGrp="1"/>
          </p:cNvSpPr>
          <p:nvPr/>
        </p:nvSpPr>
        <p:spPr>
          <a:xfrm>
            <a:off x="6191250" y="35433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045D4221-A527-444C-89F2-11E0E1163944}"/>
              </a:ext>
            </a:extLst>
          </p:cNvPr>
          <p:cNvSpPr>
            <a:spLocks noGrp="1"/>
          </p:cNvSpPr>
          <p:nvPr/>
        </p:nvSpPr>
        <p:spPr>
          <a:xfrm>
            <a:off x="6781800" y="35433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ทบทวน Min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B1B54205-D2E5-4FB4-B7A6-0C71612F3415}"/>
              </a:ext>
            </a:extLst>
          </p:cNvPr>
          <p:cNvSpPr>
            <a:spLocks noGrp="1"/>
          </p:cNvSpPr>
          <p:nvPr/>
        </p:nvSpPr>
        <p:spPr>
          <a:xfrm>
            <a:off x="6781800" y="3905250"/>
            <a:ext cx="4171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ปรับเมื่อพฤติกรรมการใช้เปลี่ยน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3CF11CBB-3103-48DC-91DE-B7CC58921C43}"/>
              </a:ext>
            </a:extLst>
          </p:cNvPr>
          <p:cNvSpPr>
            <a:spLocks noGrp="1"/>
          </p:cNvSpPr>
          <p:nvPr/>
        </p:nvSpPr>
        <p:spPr>
          <a:xfrm>
            <a:off x="6191250" y="46101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30AF3644-763B-479F-B58E-6DEA940233EF}"/>
              </a:ext>
            </a:extLst>
          </p:cNvPr>
          <p:cNvSpPr>
            <a:spLocks noGrp="1"/>
          </p:cNvSpPr>
          <p:nvPr/>
        </p:nvSpPr>
        <p:spPr>
          <a:xfrm>
            <a:off x="6781800" y="46101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เตรียมใบสั่งซื้อ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5D403A2A-CC8B-4821-9A09-F7FEC4D368DF}"/>
              </a:ext>
            </a:extLst>
          </p:cNvPr>
          <p:cNvSpPr>
            <a:spLocks noGrp="1"/>
          </p:cNvSpPr>
          <p:nvPr/>
        </p:nvSpPr>
        <p:spPr>
          <a:xfrm>
            <a:off x="6781800" y="4972050"/>
            <a:ext cx="4171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รวมรายการและติดต่อ Supplier</a:t>
            </a:r>
          </a:p>
        </p:txBody>
      </p:sp>
      <p:pic>
        <p:nvPicPr>
          <p:cNvPr id="40" name="รูปภาพ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1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D94D9B8E-0B8A-462A-81B9-FD50844A304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เอกสารส่งสาขา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762FE89-30EE-4F40-A696-D37FE8316690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ใบส่งมอบ PDF ทำให้การรับของมีหลักฐานสองฝ่าย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294AE66-F9F6-4B4D-932C-0FDF06D5DDB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C02AA7ED-CDEC-4415-92D2-1E0469F2FC8B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12</a:t>
            </a:r>
          </a:p>
        </p:txBody>
      </p:sp>
      <p:pic>
        <p:nvPicPr>
          <p:cNvPr id="24" name="รูปภาพ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0269" y="1619250"/>
            <a:ext cx="2964062" cy="4191000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0E2F5389-3BE8-4C1E-B135-75C2201EAAB3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</a:rPr>
              <a:t>องค์ประกอบสำคัญ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E2DDC75B-0236-4FA8-AE20-2D1974A7197C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4E39A5F7-AA61-44C7-AE64-E91CC639C1E6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เลขที่เอกสาร วันที่ และสาขา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CC7611FC-B867-41BA-A768-FA939C3EF862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FC5B0392-BB34-486F-82C1-0EA7B20BD626}"/>
              </a:ext>
            </a:extLst>
          </p:cNvPr>
          <p:cNvSpPr>
            <a:spLocks noGrp="1"/>
          </p:cNvSpPr>
          <p:nvPr/>
        </p:nvSpPr>
        <p:spPr>
          <a:xfrm>
            <a:off x="6496050" y="290512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รหัส ประเภท รายการ จำนวน และหน่วย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50C2CF9B-C087-4058-84BC-A1DB4D9459F9}"/>
              </a:ext>
            </a:extLst>
          </p:cNvPr>
          <p:cNvSpPr>
            <a:spLocks noGrp="1"/>
          </p:cNvSpPr>
          <p:nvPr/>
        </p:nvSpPr>
        <p:spPr>
          <a:xfrm>
            <a:off x="6191250" y="3617963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 dirty="0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FF358853-B900-4E08-A4BA-DE906136EB09}"/>
              </a:ext>
            </a:extLst>
          </p:cNvPr>
          <p:cNvSpPr>
            <a:spLocks noGrp="1"/>
          </p:cNvSpPr>
          <p:nvPr/>
        </p:nvSpPr>
        <p:spPr>
          <a:xfrm>
            <a:off x="6496050" y="3589081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 dirty="0" err="1">
                <a:solidFill>
                  <a:srgbClr val="152238"/>
                </a:solidFill>
              </a:rPr>
              <a:t>ช่องติ๊ก</a:t>
            </a:r>
            <a:r>
              <a:rPr sz="1350" b="0" dirty="0">
                <a:solidFill>
                  <a:srgbClr val="152238"/>
                </a:solidFill>
              </a:rPr>
              <a:t> ‘</a:t>
            </a:r>
            <a:r>
              <a:rPr sz="1350" b="0" dirty="0" err="1">
                <a:solidFill>
                  <a:srgbClr val="152238"/>
                </a:solidFill>
              </a:rPr>
              <a:t>รับแล้ว</a:t>
            </a:r>
            <a:r>
              <a:rPr sz="1350" b="0" dirty="0">
                <a:solidFill>
                  <a:srgbClr val="152238"/>
                </a:solidFill>
              </a:rPr>
              <a:t>’ </a:t>
            </a:r>
            <a:r>
              <a:rPr sz="1350" b="0" dirty="0" err="1">
                <a:solidFill>
                  <a:srgbClr val="152238"/>
                </a:solidFill>
              </a:rPr>
              <a:t>ทีละรายการ</a:t>
            </a:r>
            <a:endParaRPr sz="1350" b="0" dirty="0">
              <a:solidFill>
                <a:srgbClr val="152238"/>
              </a:solidFill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D11FB44F-3952-4662-87CF-9D5608A6500E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246881FF-6EF7-434B-860E-F478260F70B4}"/>
              </a:ext>
            </a:extLst>
          </p:cNvPr>
          <p:cNvSpPr>
            <a:spLocks noGrp="1"/>
          </p:cNvSpPr>
          <p:nvPr/>
        </p:nvSpPr>
        <p:spPr>
          <a:xfrm>
            <a:off x="6496050" y="395287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ผลการตรวจรับและหมายเหตุ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4F44D0E8-9323-4F26-9978-0FF90C110A17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2629C5F-8C38-47CD-86D9-C90E2F1A6CDB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ลายเซ็น ชื่อ และวันที่ผู้ส่ง–ผู้รับ</a:t>
            </a:r>
          </a:p>
        </p:txBody>
      </p:sp>
      <p:sp>
        <p:nvSpPr>
          <p:cNvPr id="17" name="สี่เหลี่ยมผืนผ้า: มุมมน 16">
            <a:extLst>
              <a:ext uri="{FF2B5EF4-FFF2-40B4-BE49-F238E27FC236}">
                <a16:creationId xmlns:a16="http://schemas.microsoft.com/office/drawing/2014/main" id="{260BC713-15AC-4969-93B9-FFDDE6CED8E5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4762500" cy="552450"/>
          </a:xfrm>
          <a:prstGeom prst="roundRect">
            <a:avLst>
              <a:gd name="adj" fmla="val 20690"/>
            </a:avLst>
          </a:prstGeom>
          <a:solidFill>
            <a:srgbClr val="FFF3D6"/>
          </a:solidFill>
          <a:ln w="0">
            <a:noFill/>
            <a:prstDash val="solid"/>
          </a:ln>
        </p:spPr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7522DE8B-6C76-4B26-957C-C7F92BBECACA}"/>
              </a:ext>
            </a:extLst>
          </p:cNvPr>
          <p:cNvSpPr>
            <a:spLocks noGrp="1"/>
          </p:cNvSpPr>
          <p:nvPr/>
        </p:nvSpPr>
        <p:spPr>
          <a:xfrm>
            <a:off x="6419850" y="529590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ไม่แสดงต้นทุนในใบที่ส่งให้สาขา</a:t>
            </a:r>
          </a:p>
        </p:txBody>
      </p:sp>
      <p:pic>
        <p:nvPicPr>
          <p:cNvPr id="38" name="รูปภาพ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CD65369E-93AD-36A4-5DE9-F11225AAE53A}"/>
              </a:ext>
            </a:extLst>
          </p:cNvPr>
          <p:cNvSpPr>
            <a:spLocks noGrp="1"/>
          </p:cNvSpPr>
          <p:nvPr/>
        </p:nvSpPr>
        <p:spPr>
          <a:xfrm>
            <a:off x="6496050" y="3206545"/>
            <a:ext cx="445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38"/>
                </a:solidFill>
              </a:defRPr>
            </a:pPr>
            <a:r>
              <a:rPr sz="1350" b="0" dirty="0" err="1">
                <a:solidFill>
                  <a:srgbClr val="152238"/>
                </a:solidFill>
              </a:rPr>
              <a:t>ช่องติ๊ก</a:t>
            </a:r>
            <a:r>
              <a:rPr sz="1350" b="0" dirty="0">
                <a:solidFill>
                  <a:srgbClr val="152238"/>
                </a:solidFill>
              </a:rPr>
              <a:t> ‘</a:t>
            </a:r>
            <a:r>
              <a:rPr lang="th-TH" sz="1350" dirty="0">
                <a:solidFill>
                  <a:srgbClr val="152238"/>
                </a:solidFill>
              </a:rPr>
              <a:t>ตรวจ</a:t>
            </a:r>
            <a:r>
              <a:rPr sz="1350" b="0" dirty="0" err="1">
                <a:solidFill>
                  <a:srgbClr val="152238"/>
                </a:solidFill>
              </a:rPr>
              <a:t>แล้ว</a:t>
            </a:r>
            <a:r>
              <a:rPr sz="1350" b="0" dirty="0">
                <a:solidFill>
                  <a:srgbClr val="152238"/>
                </a:solidFill>
              </a:rPr>
              <a:t>’ </a:t>
            </a:r>
            <a:r>
              <a:rPr sz="1350" b="0" dirty="0" err="1">
                <a:solidFill>
                  <a:srgbClr val="152238"/>
                </a:solidFill>
              </a:rPr>
              <a:t>ทีละรายการ</a:t>
            </a:r>
            <a:endParaRPr sz="1350" b="0" dirty="0">
              <a:solidFill>
                <a:srgbClr val="152238"/>
              </a:solidFill>
            </a:endParaRP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11955247-AD61-D3A3-B4A4-6D9CBBFF0BD0}"/>
              </a:ext>
            </a:extLst>
          </p:cNvPr>
          <p:cNvSpPr>
            <a:spLocks noGrp="1"/>
          </p:cNvSpPr>
          <p:nvPr/>
        </p:nvSpPr>
        <p:spPr>
          <a:xfrm>
            <a:off x="6194015" y="3230512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6BFF"/>
                </a:solidFill>
              </a:defRPr>
            </a:pPr>
            <a:r>
              <a:rPr sz="1350" b="1" dirty="0">
                <a:solidFill>
                  <a:srgbClr val="2F6BFF"/>
                </a:solidFill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468255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DB98941D-EF04-427C-BD51-437B92199CB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Checklist พนักงานจัดซื้อ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37A0EE8-1412-4873-A47C-5E419941E2A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งานประจำวันต้องจบด้วยการตรวจข้อมูลและเอกสาร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14FCD0E1-9640-4E70-9ACF-CF599BA39770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4E2EE3B1-F09B-4967-90AB-B29F5DAA4523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3FCF8E95-EF15-435A-B016-223EB9D2FD8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4BD352F7-DE47-466A-860B-8DAD12306804}"/>
              </a:ext>
            </a:extLst>
          </p:cNvPr>
          <p:cNvSpPr>
            <a:spLocks noGrp="1"/>
          </p:cNvSpPr>
          <p:nvPr/>
        </p:nvSpPr>
        <p:spPr>
          <a:xfrm>
            <a:off x="1428750" y="1752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ก่อนซื้อ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C8AB0AB2-7C3F-4A9D-9AFB-D473FF32B104}"/>
              </a:ext>
            </a:extLst>
          </p:cNvPr>
          <p:cNvSpPr>
            <a:spLocks noGrp="1"/>
          </p:cNvSpPr>
          <p:nvPr/>
        </p:nvSpPr>
        <p:spPr>
          <a:xfrm>
            <a:off x="4095750" y="17526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ตรวจ Min • สต๊อก • รายการที่ต้องสั่ง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DC6E6343-7832-437C-8BE0-31256FCE273E}"/>
              </a:ext>
            </a:extLst>
          </p:cNvPr>
          <p:cNvSpPr>
            <a:spLocks noGrp="1"/>
          </p:cNvSpPr>
          <p:nvPr/>
        </p:nvSpPr>
        <p:spPr>
          <a:xfrm>
            <a:off x="1428750" y="2247900"/>
            <a:ext cx="95250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0B4C1C8D-4FA6-46B3-9F62-F09C6DDED69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1B990E97-FB16-4D85-B9FA-FBCC6900D7C1}"/>
              </a:ext>
            </a:extLst>
          </p:cNvPr>
          <p:cNvSpPr>
            <a:spLocks noGrp="1"/>
          </p:cNvSpPr>
          <p:nvPr/>
        </p:nvSpPr>
        <p:spPr>
          <a:xfrm>
            <a:off x="1428750" y="2533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เมื่อซื้อ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B11167E3-448A-4FCF-A293-25E2513EDE3D}"/>
              </a:ext>
            </a:extLst>
          </p:cNvPr>
          <p:cNvSpPr>
            <a:spLocks noGrp="1"/>
          </p:cNvSpPr>
          <p:nvPr/>
        </p:nvSpPr>
        <p:spPr>
          <a:xfrm>
            <a:off x="4095750" y="25336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ตรวจ Supplier • Invoice • จำนวน • ราคา • VAT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B01289BF-0DCA-41BA-9883-E780A1EAB1C9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95250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FD601C48-F659-46D8-8360-F975453505A1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A132D5EF-54D0-4F0F-8A51-FD052AB515B1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ก่อนส่ง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9070FACD-FC97-4940-BA03-AFF00A1C36CB}"/>
              </a:ext>
            </a:extLst>
          </p:cNvPr>
          <p:cNvSpPr>
            <a:spLocks noGrp="1"/>
          </p:cNvSpPr>
          <p:nvPr/>
        </p:nvSpPr>
        <p:spPr>
          <a:xfrm>
            <a:off x="4095750" y="33147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ตรวจสาขา • จำนวน • หน่วย • ต้นทุน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516DD71B-77F0-403D-9F35-896177CD8548}"/>
              </a:ext>
            </a:extLst>
          </p:cNvPr>
          <p:cNvSpPr>
            <a:spLocks noGrp="1"/>
          </p:cNvSpPr>
          <p:nvPr/>
        </p:nvSpPr>
        <p:spPr>
          <a:xfrm>
            <a:off x="1428750" y="3810000"/>
            <a:ext cx="95250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1F46D0D3-8D8B-4708-96CF-3DDC7D57562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04</a:t>
            </a:r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A64E9784-A7AC-409F-91A3-480643A9C611}"/>
              </a:ext>
            </a:extLst>
          </p:cNvPr>
          <p:cNvSpPr>
            <a:spLocks noGrp="1"/>
          </p:cNvSpPr>
          <p:nvPr/>
        </p:nvSpPr>
        <p:spPr>
          <a:xfrm>
            <a:off x="142875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เมื่อส่ง</a:t>
            </a: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AB4E6210-9B02-44B2-BDF9-65AEE68E1C43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พิมพ์ใบส่งมอบ • ผู้ส่งและผู้รับลงนาม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0907A5E7-81C5-4135-AC91-F4946FF0A310}"/>
              </a:ext>
            </a:extLst>
          </p:cNvPr>
          <p:cNvSpPr>
            <a:spLocks noGrp="1"/>
          </p:cNvSpPr>
          <p:nvPr/>
        </p:nvSpPr>
        <p:spPr>
          <a:xfrm>
            <a:off x="1428750" y="4591050"/>
            <a:ext cx="95250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D91849B7-666A-46D1-91DB-94779B3BFB4D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05</a:t>
            </a:r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7695E369-AD87-4553-B63D-A4950EEC8FD6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สิ้นวัน</a:t>
            </a:r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B76ADC3E-B524-47E7-9F5A-CBDC575F66E5}"/>
              </a:ext>
            </a:extLst>
          </p:cNvPr>
          <p:cNvSpPr>
            <a:spLocks noGrp="1"/>
          </p:cNvSpPr>
          <p:nvPr/>
        </p:nvSpPr>
        <p:spPr>
          <a:xfrm>
            <a:off x="4095750" y="48768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ตรวจรายงานและรายการผิดปกติ</a:t>
            </a:r>
          </a:p>
        </p:txBody>
      </p:sp>
      <p:pic>
        <p:nvPicPr>
          <p:cNvPr id="48" name="รูปภาพ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27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A4103EE7-73D7-4565-8D24-183189E0DE6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ปัญหาที่พบบ่อย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F1271D9-665B-4D6A-8D3A-1CD1A7565C51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52238"/>
                </a:solidFill>
              </a:defRPr>
            </a:pPr>
            <a:r>
              <a:rPr sz="2850" b="1">
                <a:solidFill>
                  <a:srgbClr val="152238"/>
                </a:solidFill>
              </a:rPr>
              <a:t>ข้อผิดพลาดส่วนใหญ่ป้องกันได้ด้วยข้อมูลหลักและการตรวจทาน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D6F47689-CDF5-4A66-BD7B-C3DF10A8CB6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CEB2A5AF-78C7-4981-A6BC-3088281B44FB}"/>
              </a:ext>
            </a:extLst>
          </p:cNvPr>
          <p:cNvSpPr>
            <a:spLocks noGrp="1"/>
          </p:cNvSpPr>
          <p:nvPr/>
        </p:nvSpPr>
        <p:spPr>
          <a:xfrm>
            <a:off x="10858500" y="6343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73515605-03A2-48A6-8206-A19AC58CED21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C63C3C"/>
                </a:solidFill>
              </a:defRPr>
            </a:pPr>
            <a:r>
              <a:rPr sz="1875" b="1">
                <a:solidFill>
                  <a:srgbClr val="C63C3C"/>
                </a:solidFill>
              </a:rPr>
              <a:t>ต้นทุนเป็น 0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84783E40-FA34-4E79-8AE8-E2C3A9BD6EA0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895600" cy="38100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004822CD-0D46-4860-B039-1B2A0060C1E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952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ตั้ง standard cost หรือบันทึกประวัติซื้อก่อนเบิก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EF96501A-1E24-4E86-B283-B25992450442}"/>
              </a:ext>
            </a:extLst>
          </p:cNvPr>
          <p:cNvSpPr>
            <a:spLocks noGrp="1"/>
          </p:cNvSpPr>
          <p:nvPr/>
        </p:nvSpPr>
        <p:spPr>
          <a:xfrm>
            <a:off x="4229100" y="18669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ยอดคงเหลือผิด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4B56E7A9-1248-469C-9C27-95C41EBC54DA}"/>
              </a:ext>
            </a:extLst>
          </p:cNvPr>
          <p:cNvSpPr>
            <a:spLocks noGrp="1"/>
          </p:cNvSpPr>
          <p:nvPr/>
        </p:nvSpPr>
        <p:spPr>
          <a:xfrm>
            <a:off x="4229100" y="2419350"/>
            <a:ext cx="2895600" cy="38100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7D676B5F-9EDF-403D-9E0A-9BD32D96336B}"/>
              </a:ext>
            </a:extLst>
          </p:cNvPr>
          <p:cNvSpPr>
            <a:spLocks noGrp="1"/>
          </p:cNvSpPr>
          <p:nvPr/>
        </p:nvSpPr>
        <p:spPr>
          <a:xfrm>
            <a:off x="4229100" y="2724150"/>
            <a:ext cx="2952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ตรวจรายการซ้ำ การแก้ไข/ลบ และ stock movement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09B25576-A1C1-4E1F-A2FD-72B3D86A06FE}"/>
              </a:ext>
            </a:extLst>
          </p:cNvPr>
          <p:cNvSpPr>
            <a:spLocks noGrp="1"/>
          </p:cNvSpPr>
          <p:nvPr/>
        </p:nvSpPr>
        <p:spPr>
          <a:xfrm>
            <a:off x="7772400" y="18669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</a:rPr>
              <a:t>PDF ไม่ตรงรายการ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C54AFB70-B6A1-48CB-BF6A-F98A1DA56748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2895600" cy="38100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41703031-E7CA-4745-BCC3-11F5D5CBE0C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2952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เลือกสาขาและวันที่ใหม่ แล้วดาวน์โหลดจากข้อมูลล่าสุด</a:t>
            </a:r>
          </a:p>
        </p:txBody>
      </p:sp>
      <p:sp>
        <p:nvSpPr>
          <p:cNvPr id="14" name="สี่เหลี่ยมผืนผ้า: มุมมน 13">
            <a:extLst>
              <a:ext uri="{FF2B5EF4-FFF2-40B4-BE49-F238E27FC236}">
                <a16:creationId xmlns:a16="http://schemas.microsoft.com/office/drawing/2014/main" id="{C6EBCFB4-14D4-4FE0-8634-3AFFB799D9F6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9982200" cy="104775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F6720EF5-5BCD-4087-B4CE-542F8DAB6A77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เมื่อพบ Error</a:t>
            </a:r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1B8A9893-8F04-4036-B6E6-6767E6706A1D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บันทึกข้อความ Error • ถ่ายภาพหน้าจอ • ระบุเมนู/สาขา/วันที่ • หยุดบันทึกซ้ำ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B5A772F5-05E5-464B-82A2-AF7503E862CA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63C3C"/>
                </a:solidFill>
              </a:defRPr>
            </a:pPr>
            <a:r>
              <a:rPr sz="1350" b="1">
                <a:solidFill>
                  <a:srgbClr val="C63C3C"/>
                </a:solidFill>
              </a:rPr>
              <a:t>แจ้งผู้ดูแลระบบก่อนแก้ไขข้อมูลฐานหรือรัน SQL</a:t>
            </a:r>
          </a:p>
        </p:txBody>
      </p:sp>
      <p:pic>
        <p:nvPicPr>
          <p:cNvPr id="36" name="รูปภาพ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9748" y="6191250"/>
            <a:ext cx="698904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C77055EE-DB46-41B6-991C-E2A7EF1AF47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6A64F"/>
                </a:solidFill>
              </a:defRPr>
            </a:pPr>
            <a:r>
              <a:rPr sz="1200" b="1">
                <a:solidFill>
                  <a:srgbClr val="D6A64F"/>
                </a:solidFill>
              </a:rPr>
              <a:t>สิ่งที่ผู้บริหารควรได้รับ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1DAAA819-6CF1-4C70-A3BB-312E39503C73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ซื้อถูกต้อง  ส่งครบ  สต๊อกทันเวลา</a:t>
            </a: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34B0902-369C-441D-A18A-F363AB4CB3AD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D8E0EC"/>
                </a:solidFill>
              </a:defRPr>
            </a:pPr>
            <a:r>
              <a:rPr sz="1875" b="0">
                <a:solidFill>
                  <a:srgbClr val="D8E0EC"/>
                </a:solidFill>
              </a:rPr>
              <a:t>ฝ่ายจัดซื้อเป็นเจ้าของความถูกต้องของข้อมูลสินค้า ต้นทุน การส่ง และหลักฐานรับของ</a:t>
            </a: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A3463EFB-4FDE-4616-82FE-BD04A13BC67C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572000" cy="47625"/>
          </a:xfrm>
          <a:prstGeom prst="rect">
            <a:avLst/>
          </a:prstGeom>
          <a:solidFill>
            <a:srgbClr val="D6A64F"/>
          </a:solidFill>
          <a:ln w="0">
            <a:noFill/>
            <a:prstDash val="solid"/>
          </a:ln>
        </p:spPr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7D07A89C-100F-4208-839E-9F81C62FE0E8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ติดตามอย่างน้อย 4 เรื่อง</a:t>
            </a: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55940A79-84EE-4099-A7C1-68553FEE800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A825787E-86CB-437A-B185-A6FC11F37011}"/>
              </a:ext>
            </a:extLst>
          </p:cNvPr>
          <p:cNvSpPr>
            <a:spLocks noGrp="1"/>
          </p:cNvSpPr>
          <p:nvPr/>
        </p:nvSpPr>
        <p:spPr>
          <a:xfrm>
            <a:off x="990600" y="4438650"/>
            <a:ext cx="693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7ECF2"/>
                </a:solidFill>
              </a:defRPr>
            </a:pPr>
            <a:r>
              <a:rPr sz="1425" b="0">
                <a:solidFill>
                  <a:srgbClr val="E7ECF2"/>
                </a:solidFill>
              </a:rPr>
              <a:t>รายการถึง Min และความเสี่ยงของขาด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3CB1FE00-CF52-4D47-9980-BFCC13A5AC66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6264461C-0D8A-4916-BD11-D2A794414E7D}"/>
              </a:ext>
            </a:extLst>
          </p:cNvPr>
          <p:cNvSpPr>
            <a:spLocks noGrp="1"/>
          </p:cNvSpPr>
          <p:nvPr/>
        </p:nvSpPr>
        <p:spPr>
          <a:xfrm>
            <a:off x="990600" y="4867275"/>
            <a:ext cx="693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7ECF2"/>
                </a:solidFill>
              </a:defRPr>
            </a:pPr>
            <a:r>
              <a:rPr sz="1425" b="0">
                <a:solidFill>
                  <a:srgbClr val="E7ECF2"/>
                </a:solidFill>
              </a:rPr>
              <a:t>ราคาซื้อและยอดรวม VAT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AFE40A0D-BAFE-46F0-B94D-194C508ECD01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78797B3C-5831-4D6C-B9F3-BD27A1698921}"/>
              </a:ext>
            </a:extLst>
          </p:cNvPr>
          <p:cNvSpPr>
            <a:spLocks noGrp="1"/>
          </p:cNvSpPr>
          <p:nvPr/>
        </p:nvSpPr>
        <p:spPr>
          <a:xfrm>
            <a:off x="990600" y="5295900"/>
            <a:ext cx="693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7ECF2"/>
                </a:solidFill>
              </a:defRPr>
            </a:pPr>
            <a:r>
              <a:rPr sz="1425" b="0">
                <a:solidFill>
                  <a:srgbClr val="E7ECF2"/>
                </a:solidFill>
              </a:rPr>
              <a:t>การเบิกเข้าสาขาและใบรับของลงนาม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3117C9F0-799C-4603-9861-4F899A3A444A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•</a:t>
            </a: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3A75C5E8-4951-405C-B372-E99B68AF604B}"/>
              </a:ext>
            </a:extLst>
          </p:cNvPr>
          <p:cNvSpPr>
            <a:spLocks noGrp="1"/>
          </p:cNvSpPr>
          <p:nvPr/>
        </p:nvSpPr>
        <p:spPr>
          <a:xfrm>
            <a:off x="990600" y="5724525"/>
            <a:ext cx="693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7ECF2"/>
                </a:solidFill>
              </a:defRPr>
            </a:pPr>
            <a:r>
              <a:rPr sz="1425" b="0">
                <a:solidFill>
                  <a:srgbClr val="E7ECF2"/>
                </a:solidFill>
              </a:rPr>
              <a:t>รายการแก้ไข/ลบผิดปกติ</a:t>
            </a:r>
          </a:p>
        </p:txBody>
      </p:sp>
      <p:pic>
        <p:nvPicPr>
          <p:cNvPr id="29" name="รูปภาพ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07024" y="4762500"/>
            <a:ext cx="1817152" cy="990600"/>
          </a:xfrm>
          <a:prstGeom prst="rect">
            <a:avLst/>
          </a:prstGeom>
        </p:spPr>
      </p:pic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284068DB-55C1-4F3F-8CF2-35E7D3F625F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EB8C7"/>
                </a:solidFill>
              </a:defRPr>
            </a:pPr>
            <a:r>
              <a:rPr sz="1200" b="0">
                <a:solidFill>
                  <a:srgbClr val="AEB8C7"/>
                </a:solidFill>
              </a:rPr>
              <a:t>จัดทำโดย ดร.วรรณ (ดร.อภิวรรณ์ ดำแสงสวัสดิ์)</a:t>
            </a:r>
          </a:p>
        </p:txBody>
      </p:sp>
    </p:spTree>
    <p:extLst>
      <p:ext uri="{BB962C8B-B14F-4D97-AF65-F5344CB8AC3E}">
        <p14:creationId xmlns:p14="http://schemas.microsoft.com/office/powerpoint/2010/main" val="312004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1956</Words>
  <Application>Microsoft Office PowerPoint</Application>
  <DocSecurity>0</DocSecurity>
  <PresentationFormat>แบบจอกว้าง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1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15</vt:i4>
      </vt:variant>
    </vt:vector>
  </HeadingPairs>
  <TitlesOfParts>
    <vt:vector size="17" baseType="lpstr">
      <vt:lpstr>Calibri</vt:lpstr>
      <vt:lpstr>ChatGPT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</cp:revision>
  <dcterms:created xsi:type="dcterms:W3CDTF">2026-08-17T06:48:04Z</dcterms:created>
  <dcterms:modified xsi:type="dcterms:W3CDTF">2026-08-17T07:42:21Z</dcterms:modified>
</cp:coreProperties>
</file>